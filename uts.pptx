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slideLayouts/slideLayout1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8"/>
  </p:notesMasterIdLst>
  <p:sldIdLst>
    <p:sldId id="256" r:id="rId4"/>
    <p:sldId id="257" r:id="rId5"/>
    <p:sldId id="258" r:id="rId6"/>
    <p:sldId id="259" r:id="rId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0" d="6"/>
          <a:sy n="0" d="2"/>
        </p:scale>
        <p:origin x="1005378368" y="0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 /><Relationship Id="rId10" Type="http://schemas.openxmlformats.org/officeDocument/2006/relationships/tableStyles" Target="tableStyles.xml" /><Relationship Id="rId1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D8C093-A059-B9F5-F7AA-5C585336708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333189-FE84-B9A7-1D1A-0C8FB1B2C4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67419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3529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8449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73C1AF-2760-3C36-9232-E5466FF53B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58321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7885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631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DFE824-BE4C-C517-9F55-FB701F59D9E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6611403" name="PlaceHolder 1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111443483" name="PlaceHolder 2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8F37A159-0DD6-48AF-8F93-B0EF26AD1068}" type="slidenum">
              <a:rPr/>
              <a:t>&lt;#&gt;</a:t>
            </a:fld>
            <a:endParaRPr/>
          </a:p>
        </p:txBody>
      </p:sp>
      <p:sp>
        <p:nvSpPr>
          <p:cNvPr id="830754463" name="PlaceHolder 3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x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624943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602302" name="PlaceHolder 2"/>
          <p:cNvSpPr>
            <a:spLocks noGrp="1"/>
          </p:cNvSpPr>
          <p:nvPr>
            <p:ph type="subTitle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563348" name="PlaceHolder 3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136910055" name="PlaceHolder 4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2FFB070E-2F1E-4661-9A50-22A49F87D8AF}" type="slidenum">
              <a:rPr/>
              <a:t>&lt;#&gt;</a:t>
            </a:fld>
            <a:endParaRPr/>
          </a:p>
        </p:txBody>
      </p:sp>
      <p:sp>
        <p:nvSpPr>
          <p:cNvPr id="805701962" name="PlaceHolder 5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,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453374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441972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434884" name="PlaceHolder 3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314550139" name="PlaceHolder 4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0631A185-5425-46AA-873E-457B77871579}" type="slidenum">
              <a:rPr/>
              <a:t>&lt;#&gt;</a:t>
            </a:fld>
            <a:endParaRPr/>
          </a:p>
        </p:txBody>
      </p:sp>
      <p:sp>
        <p:nvSpPr>
          <p:cNvPr id="1356421624" name="PlaceHolder 5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itle, 2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745076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327046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4053893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873792" name="PlaceHolder 4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270962127" name="PlaceHolder 5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6C0ADBD8-E0D9-4E96-8ED0-6C9B7C500724}" type="slidenum">
              <a:rPr/>
              <a:t>&lt;#&gt;</a:t>
            </a:fld>
            <a:endParaRPr/>
          </a:p>
        </p:txBody>
      </p:sp>
      <p:sp>
        <p:nvSpPr>
          <p:cNvPr id="996907091" name="PlaceHolder 6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3241313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270091" name="PlaceHolder 2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871912310" name="PlaceHolder 3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CB11A6C1-F99A-43CD-8F59-917682143C15}" type="slidenum">
              <a:rPr/>
              <a:t>&lt;#&gt;</a:t>
            </a:fld>
            <a:endParaRPr/>
          </a:p>
        </p:txBody>
      </p:sp>
      <p:sp>
        <p:nvSpPr>
          <p:cNvPr id="501156095" name="PlaceHolder 4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Only" userDrawn="1">
  <p:cSld name="Centere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890899" name="PlaceHolder 1"/>
          <p:cNvSpPr>
            <a:spLocks noGrp="1"/>
          </p:cNvSpPr>
          <p:nvPr>
            <p:ph type="subTitle"/>
          </p:nvPr>
        </p:nvSpPr>
        <p:spPr bwMode="auto"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>
              <a:defRPr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024618" name="PlaceHolder 2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469647720" name="PlaceHolder 3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AFFADEE3-D593-48D4-A7AB-82B543D819E2}" type="slidenum">
              <a:rPr/>
              <a:t>&lt;#&gt;</a:t>
            </a:fld>
            <a:endParaRPr/>
          </a:p>
        </p:txBody>
      </p:sp>
      <p:sp>
        <p:nvSpPr>
          <p:cNvPr id="1587407411" name="PlaceHolder 4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AndObj" userDrawn="1">
  <p:cSld name="Title, 2 Content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735335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791433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29102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647595" name="PlaceHolder 4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886094" name="PlaceHolder 5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267191694" name="PlaceHolder 6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51A1047D-C27A-4545-BE69-856D175531E0}" type="slidenum">
              <a:rPr/>
              <a:t>&lt;#&gt;</a:t>
            </a:fld>
            <a:endParaRPr/>
          </a:p>
        </p:txBody>
      </p:sp>
      <p:sp>
        <p:nvSpPr>
          <p:cNvPr id="1114146103" name="PlaceHolder 7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AndTwoObj" userDrawn="1">
  <p:cSld name="Title Content and 2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9735701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619054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29675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5585351" name="PlaceHolder 4"/>
          <p:cNvSpPr>
            <a:spLocks noGrp="1"/>
          </p:cNvSpPr>
          <p:nvPr>
            <p:ph/>
          </p:nvPr>
        </p:nvSpPr>
        <p:spPr bwMode="auto"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512903" name="PlaceHolder 5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822680219" name="PlaceHolder 6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C71037D2-8DFB-4567-BCA8-6186E8BAD8BB}" type="slidenum">
              <a:rPr/>
              <a:t>&lt;#&gt;</a:t>
            </a:fld>
            <a:endParaRPr/>
          </a:p>
        </p:txBody>
      </p:sp>
      <p:sp>
        <p:nvSpPr>
          <p:cNvPr id="504091786" name="PlaceHolder 7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OverTx" userDrawn="1">
  <p:cSld name="Title, 2 Content over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938643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871278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760341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101780" name="PlaceHolder 4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4930524" name="PlaceHolder 5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77913567" name="PlaceHolder 6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972DA9E6-5D52-4B4A-8F5A-D958D5259E7A}" type="slidenum">
              <a:rPr/>
              <a:t>&lt;#&gt;</a:t>
            </a:fld>
            <a:endParaRPr/>
          </a:p>
        </p:txBody>
      </p:sp>
      <p:sp>
        <p:nvSpPr>
          <p:cNvPr id="786962858" name="PlaceHolder 7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OverTx" userDrawn="1">
  <p:cSld name="Title, Content over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873441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546349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721437" name="PlaceHolder 3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938760" name="PlaceHolder 4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859074692" name="PlaceHolder 5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6C276ACE-494D-49BF-B1BF-B5EAA6F2DE0B}" type="slidenum">
              <a:rPr/>
              <a:t>&lt;#&gt;</a:t>
            </a:fld>
            <a:endParaRPr/>
          </a:p>
        </p:txBody>
      </p:sp>
      <p:sp>
        <p:nvSpPr>
          <p:cNvPr id="1082577428" name="PlaceHolder 6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fourObj" userDrawn="1">
  <p:cSld name="Title, 4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0656520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434019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0184681" name="PlaceHolder 3"/>
          <p:cNvSpPr>
            <a:spLocks noGrp="1"/>
          </p:cNvSpPr>
          <p:nvPr>
            <p:ph/>
          </p:nvPr>
        </p:nvSpPr>
        <p:spPr bwMode="auto"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485929" name="PlaceHolder 4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0691955" name="PlaceHolder 5"/>
          <p:cNvSpPr>
            <a:spLocks noGrp="1"/>
          </p:cNvSpPr>
          <p:nvPr>
            <p:ph/>
          </p:nvPr>
        </p:nvSpPr>
        <p:spPr bwMode="auto"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771927" name="PlaceHolder 6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780103133" name="PlaceHolder 7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EB092C12-B7BA-4D4A-B30E-4D52A3DDC6AF}" type="slidenum">
              <a:rPr/>
              <a:t>&lt;#&gt;</a:t>
            </a:fld>
            <a:endParaRPr/>
          </a:p>
        </p:txBody>
      </p:sp>
      <p:sp>
        <p:nvSpPr>
          <p:cNvPr id="183429173" name="PlaceHolder 8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Title, 6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680616" name="PlaceHolder 1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163190" name="PlaceHolder 2"/>
          <p:cNvSpPr>
            <a:spLocks noGrp="1"/>
          </p:cNvSpPr>
          <p:nvPr>
            <p:ph/>
          </p:nvPr>
        </p:nvSpPr>
        <p:spPr bwMode="auto"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671139" name="PlaceHolder 3"/>
          <p:cNvSpPr>
            <a:spLocks noGrp="1"/>
          </p:cNvSpPr>
          <p:nvPr>
            <p:ph/>
          </p:nvPr>
        </p:nvSpPr>
        <p:spPr bwMode="auto"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841716" name="PlaceHolder 4"/>
          <p:cNvSpPr>
            <a:spLocks noGrp="1"/>
          </p:cNvSpPr>
          <p:nvPr>
            <p:ph/>
          </p:nvPr>
        </p:nvSpPr>
        <p:spPr bwMode="auto"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4236602" name="PlaceHolder 5"/>
          <p:cNvSpPr>
            <a:spLocks noGrp="1"/>
          </p:cNvSpPr>
          <p:nvPr>
            <p:ph/>
          </p:nvPr>
        </p:nvSpPr>
        <p:spPr bwMode="auto"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587114" name="PlaceHolder 6"/>
          <p:cNvSpPr>
            <a:spLocks noGrp="1"/>
          </p:cNvSpPr>
          <p:nvPr>
            <p:ph/>
          </p:nvPr>
        </p:nvSpPr>
        <p:spPr bwMode="auto"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625619" name="PlaceHolder 7"/>
          <p:cNvSpPr>
            <a:spLocks noGrp="1"/>
          </p:cNvSpPr>
          <p:nvPr>
            <p:ph/>
          </p:nvPr>
        </p:nvSpPr>
        <p:spPr bwMode="auto"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7"/>
              </a:spcBef>
              <a:buNone/>
              <a:defRPr/>
            </a:pP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752610" name="PlaceHolder 8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764465904" name="PlaceHolder 9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FED18ECA-EC1B-4C85-85BA-6245DD57082F}" type="slidenum">
              <a:rPr/>
              <a:t>&lt;#&gt;</a:t>
            </a:fld>
            <a:endParaRPr/>
          </a:p>
        </p:txBody>
      </p:sp>
      <p:sp>
        <p:nvSpPr>
          <p:cNvPr id="1999288518" name="PlaceHolder 10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169013" name="PlaceHolder 1"/>
          <p:cNvSpPr>
            <a:spLocks noGrp="1"/>
          </p:cNvSpPr>
          <p:nvPr>
            <p:ph type="dt" idx="1"/>
          </p:nvPr>
        </p:nvSpPr>
        <p:spPr bwMode="auto"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4438032" name="PlaceHolder 2"/>
          <p:cNvSpPr>
            <a:spLocks noGrp="1"/>
          </p:cNvSpPr>
          <p:nvPr>
            <p:ph type="ftr" idx="2"/>
          </p:nvPr>
        </p:nvSpPr>
        <p:spPr bwMode="auto"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131647" name="PlaceHolder 3"/>
          <p:cNvSpPr>
            <a:spLocks noGrp="1"/>
          </p:cNvSpPr>
          <p:nvPr>
            <p:ph type="sldNum" idx="3"/>
          </p:nvPr>
        </p:nvSpPr>
        <p:spPr bwMode="auto"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3022C36A-A588-4C9F-A901-59947DB1B9DF}" type="slidenum">
              <a:rPr lang="en-US" sz="1200" b="0" strike="noStrike" spc="-1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132230" name="PlaceHolder 4"/>
          <p:cNvSpPr>
            <a:spLocks noGrp="1"/>
          </p:cNvSpPr>
          <p:nvPr>
            <p:ph type="title"/>
          </p:nvPr>
        </p:nvSpPr>
        <p:spPr bwMode="auto"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3436500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090D16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4306819" name="Google Shape;84;p13"/>
          <p:cNvSpPr/>
          <p:nvPr/>
        </p:nvSpPr>
        <p:spPr bwMode="auto">
          <a:xfrm>
            <a:off x="609480" y="1672560"/>
            <a:ext cx="2095200" cy="285480"/>
          </a:xfrm>
          <a:prstGeom prst="roundRect">
            <a:avLst>
              <a:gd name="adj" fmla="val 13333"/>
            </a:avLst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  <a:defRPr/>
            </a:pPr>
            <a:endParaRPr lang="en-US" sz="1800" b="0" strike="noStrike" spc="-1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527426980" name="Google Shape;85;p13"/>
          <p:cNvSpPr/>
          <p:nvPr/>
        </p:nvSpPr>
        <p:spPr bwMode="auto">
          <a:xfrm>
            <a:off x="990479" y="2187000"/>
            <a:ext cx="9130679" cy="1408535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4200" b="1" strike="noStrike" spc="-1">
                <a:solidFill>
                  <a:srgbClr val="F8FAFC"/>
                </a:solidFill>
                <a:latin typeface="Space Grotesk"/>
                <a:ea typeface="Space Grotesk"/>
              </a:rPr>
              <a:t>Tugas ETS: Team Project (kolaboratif)</a:t>
            </a:r>
            <a:endParaRPr lang="en-US" sz="4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384508" name="Google Shape;87;p13"/>
          <p:cNvSpPr/>
          <p:nvPr/>
        </p:nvSpPr>
        <p:spPr bwMode="auto">
          <a:xfrm>
            <a:off x="743040" y="1729800"/>
            <a:ext cx="1923840" cy="1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050" b="1" strike="noStrike" spc="-1">
                <a:solidFill>
                  <a:srgbClr val="FFFFFF"/>
                </a:solidFill>
                <a:latin typeface="JetBrains Mono"/>
                <a:ea typeface="JetBrains Mono"/>
              </a:rPr>
              <a:t>Machine Learning II</a:t>
            </a:r>
            <a:endParaRPr lang="en-US" sz="105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518846" name="Google Shape;102;p14"/>
          <p:cNvSpPr/>
          <p:nvPr/>
        </p:nvSpPr>
        <p:spPr bwMode="auto">
          <a:xfrm>
            <a:off x="609480" y="771480"/>
            <a:ext cx="11605319" cy="73187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4800" b="0" strike="noStrik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Project kelompok sebagai ETS</a:t>
            </a:r>
            <a:endParaRPr sz="4800" b="0" strike="noStrike" spc="-1">
              <a:solidFill>
                <a:srgbClr val="000000"/>
              </a:solidFill>
              <a:latin typeface="Liberation Sans"/>
              <a:cs typeface="Liberation Sans"/>
            </a:endParaRPr>
          </a:p>
        </p:txBody>
      </p:sp>
      <p:sp>
        <p:nvSpPr>
          <p:cNvPr id="88792264" name=""/>
          <p:cNvSpPr txBox="1"/>
          <p:nvPr/>
        </p:nvSpPr>
        <p:spPr bwMode="auto">
          <a:xfrm rot="0" flipH="0" flipV="0">
            <a:off x="895230" y="1804901"/>
            <a:ext cx="11301990" cy="44809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195764" indent="-195764">
              <a:buFont typeface="Arial"/>
              <a:buChar char="•"/>
              <a:defRPr/>
            </a:pPr>
            <a:r>
              <a:rPr sz="2400">
                <a:latin typeface="Liberation Sans"/>
                <a:ea typeface="Liberation Sans"/>
                <a:cs typeface="Liberation Sans"/>
              </a:rPr>
              <a:t>Buat pipeline pemrosesan data (akuisisi, pengolahan, presentasi) dari irisan/gabungan/pilihan topik skripsi masing-masing angota</a:t>
            </a:r>
            <a:endParaRPr sz="2400">
              <a:latin typeface="Liberation Sans"/>
              <a:ea typeface="Liberation Sans"/>
              <a:cs typeface="Liberation Sans"/>
            </a:endParaRPr>
          </a:p>
          <a:p>
            <a:pPr marL="195764" indent="-195764">
              <a:buFont typeface="Arial"/>
              <a:buChar char="•"/>
              <a:defRPr/>
            </a:pPr>
            <a:r>
              <a:rPr sz="2400">
                <a:latin typeface="Liberation Sans"/>
                <a:ea typeface="Liberation Sans"/>
                <a:cs typeface="Liberation Sans"/>
              </a:rPr>
              <a:t>Terapkan </a:t>
            </a:r>
            <a:r>
              <a:rPr sz="2400" b="1">
                <a:latin typeface="Liberation Sans"/>
                <a:ea typeface="Liberation Sans"/>
                <a:cs typeface="Liberation Sans"/>
              </a:rPr>
              <a:t>minimal 2 aspek* </a:t>
            </a:r>
            <a:r>
              <a:rPr sz="2400" b="0" i="0">
                <a:latin typeface="Liberation Sans"/>
                <a:ea typeface="Liberation Sans"/>
                <a:cs typeface="Liberation Sans"/>
              </a:rPr>
              <a:t>dari teknik yang dipelajari di Machine Learning II (imbalance data handling, data augmentation, ensemble learning, reinforcement learning, dlsb)</a:t>
            </a: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 marL="195764" indent="-195764">
              <a:buFont typeface="Arial"/>
              <a:buChar char="•"/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Presentasi menjelang jadwal ETS, alokasi waktu hingga 15+5 menit</a:t>
            </a: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 marL="195764" indent="-195764">
              <a:buFont typeface="Arial"/>
              <a:buChar char="•"/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Evaluasi peer-evaluation dari rubrik yang Dosen Pengampu tentukan</a:t>
            </a: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 marL="349965" indent="-349965">
              <a:buFont typeface="Arial"/>
              <a:buChar char="•"/>
              <a:defRPr/>
            </a:pP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 marL="349965" indent="-349965">
              <a:buFont typeface="Arial"/>
              <a:buChar char="•"/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Metode Deep Learning diangap masuk sebagai aspek Ensemble Learning</a:t>
            </a: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 marL="349965" indent="-349965">
              <a:buFont typeface="Arial"/>
              <a:buChar char="•"/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Jumlah aspek 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ML2 </a:t>
            </a:r>
            <a:r>
              <a:rPr sz="2400" b="0" i="0">
                <a:latin typeface="Liberation Sans"/>
                <a:ea typeface="Liberation Sans"/>
                <a:cs typeface="Liberation Sans"/>
              </a:rPr>
              <a:t>menentukan nilai 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minimum </a:t>
            </a:r>
            <a:r>
              <a:rPr sz="2400" b="0" i="0">
                <a:latin typeface="Liberation Sans"/>
                <a:ea typeface="Liberation Sans"/>
                <a:cs typeface="Liberation Sans"/>
              </a:rPr>
              <a:t>kelompok:</a:t>
            </a: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	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2 teknik/aspek: 70</a:t>
            </a:r>
            <a:endParaRPr sz="2400" b="0" i="1"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2400" b="0" i="1">
                <a:latin typeface="Liberation Sans"/>
                <a:ea typeface="Liberation Sans"/>
                <a:cs typeface="Liberation Sans"/>
              </a:rPr>
              <a:t>	3 teknik/aspek: 75 </a:t>
            </a:r>
            <a:endParaRPr sz="2400" b="0" i="1">
              <a:latin typeface="Liberation Sans"/>
              <a:cs typeface="Liberatio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1203527" name="Google Shape;102;p14"/>
          <p:cNvSpPr/>
          <p:nvPr/>
        </p:nvSpPr>
        <p:spPr bwMode="auto">
          <a:xfrm>
            <a:off x="609480" y="771480"/>
            <a:ext cx="11619718" cy="73187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4800" b="0" strike="noStrik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Rubrik peer-evaluation</a:t>
            </a:r>
            <a:r>
              <a:rPr sz="4800" b="0" strike="noStrike" spc="0">
                <a:solidFill>
                  <a:srgbClr val="000000"/>
                </a:solidFill>
                <a:latin typeface="Liberation Sans"/>
                <a:cs typeface="Liberation Sans"/>
              </a:rPr>
              <a:t> (nilai kelompok)</a:t>
            </a:r>
            <a:endParaRPr sz="4800" b="0" strike="noStrike" spc="0">
              <a:solidFill>
                <a:srgbClr val="000000"/>
              </a:solidFill>
              <a:latin typeface="Liberation Sans"/>
              <a:cs typeface="Liberation Sans"/>
            </a:endParaRPr>
          </a:p>
        </p:txBody>
      </p:sp>
      <p:sp>
        <p:nvSpPr>
          <p:cNvPr id="1494394667" name=""/>
          <p:cNvSpPr txBox="1"/>
          <p:nvPr/>
        </p:nvSpPr>
        <p:spPr bwMode="auto">
          <a:xfrm rot="0" flipH="0" flipV="0">
            <a:off x="895230" y="1804900"/>
            <a:ext cx="11256991" cy="2441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431507503" name=""/>
          <p:cNvSpPr txBox="1"/>
          <p:nvPr/>
        </p:nvSpPr>
        <p:spPr bwMode="auto">
          <a:xfrm rot="0" flipH="0" flipV="0">
            <a:off x="895230" y="1804900"/>
            <a:ext cx="10967969" cy="3749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195763" indent="-195763">
              <a:buFont typeface="Arial"/>
              <a:buChar char="•"/>
              <a:defRPr/>
            </a:pPr>
            <a:r>
              <a:rPr sz="2400" b="1">
                <a:latin typeface="Liberation Sans"/>
                <a:ea typeface="Liberation Sans"/>
                <a:cs typeface="Liberation Sans"/>
              </a:rPr>
              <a:t>Kejelasan presentasi </a:t>
            </a:r>
            <a:r>
              <a:rPr sz="2400">
                <a:latin typeface="Liberation Sans"/>
                <a:ea typeface="Liberation Sans"/>
                <a:cs typeface="Liberation Sans"/>
              </a:rPr>
              <a:t>(mudah dipahami, latar belakang jelas dan kebermanfaatan/keberdampakan): 30%</a:t>
            </a:r>
            <a:endParaRPr sz="2400">
              <a:latin typeface="Liberation Sans"/>
              <a:ea typeface="Liberation Sans"/>
              <a:cs typeface="Liberation Sans"/>
            </a:endParaRPr>
          </a:p>
          <a:p>
            <a:pPr marL="195763" indent="-195763">
              <a:buFont typeface="Arial"/>
              <a:buChar char="•"/>
              <a:defRPr/>
            </a:pPr>
            <a:r>
              <a:rPr sz="2400" b="1">
                <a:latin typeface="Liberation Sans"/>
                <a:ea typeface="Liberation Sans"/>
                <a:cs typeface="Liberation Sans"/>
              </a:rPr>
              <a:t>Data </a:t>
            </a:r>
            <a:r>
              <a:rPr sz="2400">
                <a:latin typeface="Liberation Sans"/>
                <a:ea typeface="Liberation Sans"/>
                <a:cs typeface="Liberation Sans"/>
              </a:rPr>
              <a:t>wrangling dan data augmentation (mengapa diperlukan dan bagaimana dilakukan): 15%</a:t>
            </a:r>
            <a:endParaRPr sz="2400">
              <a:latin typeface="Liberation Sans"/>
              <a:ea typeface="Liberation Sans"/>
              <a:cs typeface="Liberation Sans"/>
            </a:endParaRPr>
          </a:p>
          <a:p>
            <a:pPr marL="195763" indent="-195763">
              <a:buFont typeface="Arial"/>
              <a:buChar char="•"/>
              <a:defRPr/>
            </a:pPr>
            <a:r>
              <a:rPr sz="2400" b="1">
                <a:latin typeface="Liberation Sans"/>
                <a:ea typeface="Liberation Sans"/>
                <a:cs typeface="Liberation Sans"/>
              </a:rPr>
              <a:t>Ensemble </a:t>
            </a:r>
            <a:r>
              <a:rPr sz="2400">
                <a:latin typeface="Liberation Sans"/>
                <a:ea typeface="Liberation Sans"/>
                <a:cs typeface="Liberation Sans"/>
              </a:rPr>
              <a:t>learning (kesesuaian arsitektur dan performa [yang lebih baik] dibandingkan model lain): 15%</a:t>
            </a:r>
            <a:endParaRPr sz="2400">
              <a:latin typeface="Liberation Sans"/>
              <a:ea typeface="Liberation Sans"/>
              <a:cs typeface="Liberation Sans"/>
            </a:endParaRPr>
          </a:p>
          <a:p>
            <a:pPr marL="195763" indent="-195763">
              <a:buFont typeface="Arial"/>
              <a:buChar char="•"/>
              <a:defRPr/>
            </a:pPr>
            <a:r>
              <a:rPr sz="2400" b="1">
                <a:latin typeface="Liberation Sans"/>
                <a:ea typeface="Liberation Sans"/>
                <a:cs typeface="Liberation Sans"/>
              </a:rPr>
              <a:t>Reinforcement 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(bagaimana tambahan iterasi dan data dapat meningkatkan performa model/sistem sesuai 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tujuan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): 15%</a:t>
            </a:r>
            <a:endParaRPr sz="2400" b="0">
              <a:latin typeface="Liberation Sans"/>
              <a:ea typeface="Liberation Sans"/>
              <a:cs typeface="Liberation Sans"/>
            </a:endParaRPr>
          </a:p>
          <a:p>
            <a:pPr marL="195763" indent="-195763">
              <a:buFont typeface="Arial"/>
              <a:buChar char="•"/>
              <a:defRPr/>
            </a:pPr>
            <a:r>
              <a:rPr sz="2400" b="1">
                <a:latin typeface="Liberation Sans"/>
                <a:ea typeface="Liberation Sans"/>
                <a:cs typeface="Liberation Sans"/>
              </a:rPr>
              <a:t>Analisis dan diskusi 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(batasan, 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trade-off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,  sumber galat, potensi pengembangan, 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insight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): 25%</a:t>
            </a:r>
            <a:endParaRPr sz="2400" b="0">
              <a:latin typeface="Liberation Sans"/>
              <a:ea typeface="Liberation Sans"/>
              <a:cs typeface="Liberatio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342995" name="Google Shape;102;p14"/>
          <p:cNvSpPr/>
          <p:nvPr/>
        </p:nvSpPr>
        <p:spPr bwMode="auto">
          <a:xfrm>
            <a:off x="609480" y="771480"/>
            <a:ext cx="11628358" cy="73187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4800" b="0" strike="noStrik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Nilai individu</a:t>
            </a:r>
            <a:endParaRPr sz="4800" b="0" strike="noStrike" spc="0">
              <a:solidFill>
                <a:srgbClr val="000000"/>
              </a:solidFill>
              <a:latin typeface="Liberation Sans"/>
              <a:cs typeface="Liberation Sans"/>
            </a:endParaRPr>
          </a:p>
        </p:txBody>
      </p:sp>
      <p:sp>
        <p:nvSpPr>
          <p:cNvPr id="55993476" name=""/>
          <p:cNvSpPr txBox="1"/>
          <p:nvPr/>
        </p:nvSpPr>
        <p:spPr bwMode="auto">
          <a:xfrm rot="0" flipH="0" flipV="0">
            <a:off x="895230" y="1804900"/>
            <a:ext cx="11256991" cy="2441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377464513" name=""/>
          <p:cNvSpPr txBox="1"/>
          <p:nvPr/>
        </p:nvSpPr>
        <p:spPr bwMode="auto">
          <a:xfrm rot="0" flipH="0" flipV="0">
            <a:off x="895230" y="1804900"/>
            <a:ext cx="11134289" cy="37493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195763" indent="-195763">
              <a:buFont typeface="Arial"/>
              <a:buChar char="•"/>
              <a:defRPr/>
            </a:pPr>
            <a:r>
              <a:rPr sz="2400" b="0">
                <a:latin typeface="Liberation Sans"/>
                <a:ea typeface="Liberation Sans"/>
                <a:cs typeface="Liberation Sans"/>
              </a:rPr>
              <a:t>Kontribusi 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commit 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di repository github menentukan nilai </a:t>
            </a:r>
            <a:r>
              <a:rPr sz="2400" b="0" i="1">
                <a:latin typeface="Liberation Sans"/>
                <a:ea typeface="Liberation Sans"/>
                <a:cs typeface="Liberation Sans"/>
              </a:rPr>
              <a:t>minimum 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individu</a:t>
            </a:r>
            <a:r>
              <a:rPr sz="2400" b="0">
                <a:latin typeface="Liberation Sans"/>
                <a:ea typeface="Liberation Sans"/>
                <a:cs typeface="Liberation Sans"/>
              </a:rPr>
              <a:t>:</a:t>
            </a:r>
            <a:endParaRPr sz="2400" b="0"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2400" b="0" i="1">
                <a:latin typeface="Liberation Sans"/>
                <a:ea typeface="Liberation Sans"/>
                <a:cs typeface="Liberation Sans"/>
              </a:rPr>
              <a:t>	2 commit: 65</a:t>
            </a:r>
            <a:endParaRPr sz="2400" b="0" i="1"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2400" b="0" i="1">
                <a:latin typeface="Liberation Sans"/>
                <a:ea typeface="Liberation Sans"/>
                <a:cs typeface="Liberation Sans"/>
              </a:rPr>
              <a:t>	5 commit: 70</a:t>
            </a:r>
            <a:endParaRPr sz="2400" b="0" i="1"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2400" b="0" i="1">
                <a:latin typeface="Liberation Sans"/>
                <a:ea typeface="Liberation Sans"/>
                <a:cs typeface="Liberation Sans"/>
              </a:rPr>
              <a:t>	10 commit: 75</a:t>
            </a:r>
            <a:endParaRPr sz="2400" b="0" i="1"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r>
              <a:rPr sz="2400" b="0" i="1">
                <a:latin typeface="Liberation Sans"/>
                <a:ea typeface="Liberation Sans"/>
                <a:cs typeface="Liberation Sans"/>
              </a:rPr>
              <a:t>	&lt;2 commit: 60</a:t>
            </a:r>
            <a:endParaRPr sz="2400" b="0" i="1">
              <a:latin typeface="Liberation Sans"/>
              <a:ea typeface="Liberation Sans"/>
              <a:cs typeface="Liberation Sans"/>
            </a:endParaRPr>
          </a:p>
          <a:p>
            <a:pPr marL="349965" indent="-349965">
              <a:buFont typeface="Arial"/>
              <a:buChar char="•"/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Ambang nilai terendah diambil dari nilai terendah antara </a:t>
            </a:r>
            <a:r>
              <a:rPr sz="2400" b="0" i="0" u="sng">
                <a:latin typeface="Liberation Sans"/>
                <a:ea typeface="Liberation Sans"/>
                <a:cs typeface="Liberation Sans"/>
              </a:rPr>
              <a:t>nilai minimum kelompok </a:t>
            </a:r>
            <a:r>
              <a:rPr sz="2400" b="0" i="0">
                <a:latin typeface="Liberation Sans"/>
                <a:ea typeface="Liberation Sans"/>
                <a:cs typeface="Liberation Sans"/>
              </a:rPr>
              <a:t>dan </a:t>
            </a:r>
            <a:r>
              <a:rPr sz="2400" b="0" i="0" u="sng">
                <a:latin typeface="Liberation Sans"/>
                <a:ea typeface="Liberation Sans"/>
                <a:cs typeface="Liberation Sans"/>
              </a:rPr>
              <a:t>nilai minimum individu</a:t>
            </a:r>
            <a:endParaRPr sz="2400" b="0" i="1">
              <a:latin typeface="Liberation Sans"/>
              <a:ea typeface="Liberation Sans"/>
              <a:cs typeface="Liberation Sans"/>
            </a:endParaRPr>
          </a:p>
          <a:p>
            <a:pPr marL="349965" indent="-349965">
              <a:buFont typeface="Arial"/>
              <a:buChar char="•"/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Aktif bertanya sebagai audiens: +1 poin (maks 5 poin)</a:t>
            </a: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 marL="349965" indent="-349965">
              <a:buFont typeface="Arial"/>
              <a:buChar char="•"/>
              <a:defRPr/>
            </a:pPr>
            <a:r>
              <a:rPr sz="2400" b="0" i="0">
                <a:latin typeface="Liberation Sans"/>
                <a:ea typeface="Liberation Sans"/>
                <a:cs typeface="Liberation Sans"/>
              </a:rPr>
              <a:t>Lupa memberikan evaluasi untuk kelompok yang presentasi: -1 poin</a:t>
            </a:r>
            <a:endParaRPr sz="2400" b="0" i="0">
              <a:latin typeface="Liberation Sans"/>
              <a:ea typeface="Liberation Sans"/>
              <a:cs typeface="Liberation Sans"/>
            </a:endParaRPr>
          </a:p>
          <a:p>
            <a:pPr>
              <a:defRPr/>
            </a:pPr>
            <a:endParaRPr sz="2400" b="0">
              <a:latin typeface="Liberation Sans"/>
              <a:ea typeface="Liberation Sans"/>
              <a:cs typeface="Liberatio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ONLYOFFICE/9.0.4.50</Application>
  <PresentationFormat>On-screen Show (4:3)</PresentationFormat>
  <Paragraphs>0</Paragraphs>
  <Slides>4</Slides>
  <Notes>4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Theme 1</vt:lpstr>
      <vt:lpstr>Slide 1</vt:lpstr>
      <vt:lpstr>Slide 2</vt:lpstr>
      <vt:lpstr>Slide 3</vt:lpstr>
      <vt:lpstr>Slide 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dc:language>en-US</dc:language>
  <cp:lastModifiedBy/>
  <cp:revision>2</cp:revision>
  <dcterms:modified xsi:type="dcterms:W3CDTF">2026-10-02T06:46:58Z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9</vt:i4>
  </property>
  <property fmtid="{D5CDD505-2E9C-101B-9397-08002B2CF9AE}" pid="4" name="PresentationFormat">
    <vt:lpwstr>On-screen Show (4:3)</vt:lpwstr>
  </property>
  <property fmtid="{D5CDD505-2E9C-101B-9397-08002B2CF9AE}" pid="5" name="Slides">
    <vt:i4>9</vt:i4>
  </property>
</Properties>
</file>