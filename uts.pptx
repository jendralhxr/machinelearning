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8"/>
  </p:notesMasterIdLst>
  <p:sldIdLst>
    <p:sldId id="256" r:id="rId4"/>
    <p:sldId id="257" r:id="rId5"/>
    <p:sldId id="258" r:id="rId6"/>
    <p:sldId id="259" r:id="rId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673924736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3E5644-23DA-4A08-4771-117A1BA549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9881D-89E8-AD17-F297-187F9DD6D9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741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529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8449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73C1AF-2760-3C36-9232-E5466FF53B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83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7885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6319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DFE824-BE4C-C517-9F55-FB701F59D9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139956" name="PlaceHolder 1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391360795" name="PlaceHolder 2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8F37A159-0DD6-48AF-8F93-B0EF26AD1068}" type="slidenum">
              <a:rPr/>
              <a:t>&lt;#&gt;</a:t>
            </a:fld>
            <a:endParaRPr/>
          </a:p>
        </p:txBody>
      </p:sp>
      <p:sp>
        <p:nvSpPr>
          <p:cNvPr id="511138845" name="PlaceHolder 3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35925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2293669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5845759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471184584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2FFB070E-2F1E-4661-9A50-22A49F87D8AF}" type="slidenum">
              <a:rPr/>
              <a:t>&lt;#&gt;</a:t>
            </a:fld>
            <a:endParaRPr/>
          </a:p>
        </p:txBody>
      </p:sp>
      <p:sp>
        <p:nvSpPr>
          <p:cNvPr id="1174202778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624934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418734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995670" name="PlaceHolder 3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211485857" name="PlaceHolder 4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0631A185-5425-46AA-873E-457B77871579}" type="slidenum">
              <a:rPr/>
              <a:t>&lt;#&gt;</a:t>
            </a:fld>
            <a:endParaRPr/>
          </a:p>
        </p:txBody>
      </p:sp>
      <p:sp>
        <p:nvSpPr>
          <p:cNvPr id="1042771902" name="PlaceHolder 5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79308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782801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29556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5195839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88505712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6C0ADBD8-E0D9-4E96-8ED0-6C9B7C500724}" type="slidenum">
              <a:rPr/>
              <a:t>&lt;#&gt;</a:t>
            </a:fld>
            <a:endParaRPr/>
          </a:p>
        </p:txBody>
      </p:sp>
      <p:sp>
        <p:nvSpPr>
          <p:cNvPr id="1157103434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6085353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2870724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592063584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CB11A6C1-F99A-43CD-8F59-917682143C15}" type="slidenum">
              <a:rPr/>
              <a:t>&lt;#&gt;</a:t>
            </a:fld>
            <a:endParaRPr/>
          </a:p>
        </p:txBody>
      </p:sp>
      <p:sp>
        <p:nvSpPr>
          <p:cNvPr id="1765109003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8658786" name="PlaceHolder 1"/>
          <p:cNvSpPr>
            <a:spLocks noGrp="1"/>
          </p:cNvSpPr>
          <p:nvPr>
            <p:ph type="subTitle"/>
          </p:nvPr>
        </p:nvSpPr>
        <p:spPr bwMode="auto"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4953911" name="PlaceHolder 2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15872622" name="PlaceHolder 3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AFFADEE3-D593-48D4-A7AB-82B543D819E2}" type="slidenum">
              <a:rPr/>
              <a:t>&lt;#&gt;</a:t>
            </a:fld>
            <a:endParaRPr/>
          </a:p>
        </p:txBody>
      </p:sp>
      <p:sp>
        <p:nvSpPr>
          <p:cNvPr id="961984754" name="PlaceHolder 4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040209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84193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707005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4974578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158656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05416596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51A1047D-C27A-4545-BE69-856D175531E0}" type="slidenum">
              <a:rPr/>
              <a:t>&lt;#&gt;</a:t>
            </a:fld>
            <a:endParaRPr/>
          </a:p>
        </p:txBody>
      </p:sp>
      <p:sp>
        <p:nvSpPr>
          <p:cNvPr id="1163403882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24813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796236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88519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786120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41643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56845942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C71037D2-8DFB-4567-BCA8-6186E8BAD8BB}" type="slidenum">
              <a:rPr/>
              <a:t>&lt;#&gt;</a:t>
            </a:fld>
            <a:endParaRPr/>
          </a:p>
        </p:txBody>
      </p:sp>
      <p:sp>
        <p:nvSpPr>
          <p:cNvPr id="1669402992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73342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5403272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5969262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741444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0814005" name="PlaceHolder 5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17644392" name="PlaceHolder 6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972DA9E6-5D52-4B4A-8F5A-D958D5259E7A}" type="slidenum">
              <a:rPr/>
              <a:t>&lt;#&gt;</a:t>
            </a:fld>
            <a:endParaRPr/>
          </a:p>
        </p:txBody>
      </p:sp>
      <p:sp>
        <p:nvSpPr>
          <p:cNvPr id="387684185" name="PlaceHolder 7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176617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412564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5769491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165525" name="PlaceHolder 4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10186788" name="PlaceHolder 5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6C276ACE-494D-49BF-B1BF-B5EAA6F2DE0B}" type="slidenum">
              <a:rPr/>
              <a:t>&lt;#&gt;</a:t>
            </a:fld>
            <a:endParaRPr/>
          </a:p>
        </p:txBody>
      </p:sp>
      <p:sp>
        <p:nvSpPr>
          <p:cNvPr id="1134539449" name="PlaceHolder 6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412134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62079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400944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09434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3219638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101814" name="PlaceHolder 6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659729383" name="PlaceHolder 7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EB092C12-B7BA-4D4A-B30E-4D52A3DDC6AF}" type="slidenum">
              <a:rPr/>
              <a:t>&lt;#&gt;</a:t>
            </a:fld>
            <a:endParaRPr/>
          </a:p>
        </p:txBody>
      </p:sp>
      <p:sp>
        <p:nvSpPr>
          <p:cNvPr id="1223278607" name="PlaceHolder 8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762612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451021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010010" name="PlaceHolder 3"/>
          <p:cNvSpPr>
            <a:spLocks noGrp="1"/>
          </p:cNvSpPr>
          <p:nvPr>
            <p:ph/>
          </p:nvPr>
        </p:nvSpPr>
        <p:spPr bwMode="auto"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2077763" name="PlaceHolder 4"/>
          <p:cNvSpPr>
            <a:spLocks noGrp="1"/>
          </p:cNvSpPr>
          <p:nvPr>
            <p:ph/>
          </p:nvPr>
        </p:nvSpPr>
        <p:spPr bwMode="auto"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54730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9890178" name="PlaceHolder 6"/>
          <p:cNvSpPr>
            <a:spLocks noGrp="1"/>
          </p:cNvSpPr>
          <p:nvPr>
            <p:ph/>
          </p:nvPr>
        </p:nvSpPr>
        <p:spPr bwMode="auto"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9182510" name="PlaceHolder 7"/>
          <p:cNvSpPr>
            <a:spLocks noGrp="1"/>
          </p:cNvSpPr>
          <p:nvPr>
            <p:ph/>
          </p:nvPr>
        </p:nvSpPr>
        <p:spPr bwMode="auto"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spcBef>
                <a:spcPts val="1417"/>
              </a:spcBef>
              <a:buNone/>
              <a:defRPr/>
            </a:pP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3242913" name="PlaceHolder 8"/>
          <p:cNvSpPr>
            <a:spLocks noGrp="1"/>
          </p:cNvSpPr>
          <p:nvPr>
            <p:ph type="ftr" idx="2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23640261" name="PlaceHolder 9"/>
          <p:cNvSpPr>
            <a:spLocks noGrp="1"/>
          </p:cNvSpPr>
          <p:nvPr>
            <p:ph type="sldNum" idx="3"/>
          </p:nvPr>
        </p:nvSpPr>
        <p:spPr bwMode="auto"/>
        <p:txBody>
          <a:bodyPr/>
          <a:p>
            <a:pPr>
              <a:defRPr/>
            </a:pPr>
            <a:fld id="{FED18ECA-EC1B-4C85-85BA-6245DD57082F}" type="slidenum">
              <a:rPr/>
              <a:t>&lt;#&gt;</a:t>
            </a:fld>
            <a:endParaRPr/>
          </a:p>
        </p:txBody>
      </p:sp>
      <p:sp>
        <p:nvSpPr>
          <p:cNvPr id="148257248" name="PlaceHolder 10"/>
          <p:cNvSpPr>
            <a:spLocks noGrp="1"/>
          </p:cNvSpPr>
          <p:nvPr>
            <p:ph type="dt" idx="1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682035" name="PlaceHolder 1"/>
          <p:cNvSpPr>
            <a:spLocks noGrp="1"/>
          </p:cNvSpPr>
          <p:nvPr>
            <p:ph type="dt" idx="1"/>
          </p:nvPr>
        </p:nvSpPr>
        <p:spPr bwMode="auto"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3343460" name="PlaceHolder 2"/>
          <p:cNvSpPr>
            <a:spLocks noGrp="1"/>
          </p:cNvSpPr>
          <p:nvPr>
            <p:ph type="ftr" idx="2"/>
          </p:nvPr>
        </p:nvSpPr>
        <p:spPr bwMode="auto"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2066674" name="PlaceHolder 3"/>
          <p:cNvSpPr>
            <a:spLocks noGrp="1"/>
          </p:cNvSpPr>
          <p:nvPr>
            <p:ph type="sldNum" idx="3"/>
          </p:nvPr>
        </p:nvSpPr>
        <p:spPr bwMode="auto"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strike="noStrike" spc="-1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3022C36A-A588-4C9F-A901-59947DB1B9DF}" type="slidenum">
              <a:rPr lang="en-US" sz="1200" b="0" strike="noStrike" spc="-1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4374656" name="PlaceHolder 4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422250" name="PlaceHolder 5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90D1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229215" name="Google Shape;84;p13"/>
          <p:cNvSpPr/>
          <p:nvPr/>
        </p:nvSpPr>
        <p:spPr bwMode="auto">
          <a:xfrm>
            <a:off x="609480" y="1672560"/>
            <a:ext cx="2095200" cy="285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  <a:defRPr/>
            </a:pPr>
            <a:endParaRPr lang="en-US" sz="1800" b="0" strike="noStrike" spc="-1">
              <a:solidFill>
                <a:schemeClr val="dk1"/>
              </a:solidFill>
              <a:latin typeface="Calibri"/>
              <a:ea typeface="Calibri"/>
            </a:endParaRPr>
          </a:p>
        </p:txBody>
      </p:sp>
      <p:sp>
        <p:nvSpPr>
          <p:cNvPr id="1535372550" name="Google Shape;85;p13"/>
          <p:cNvSpPr/>
          <p:nvPr/>
        </p:nvSpPr>
        <p:spPr bwMode="auto">
          <a:xfrm>
            <a:off x="609480" y="2187000"/>
            <a:ext cx="9120959" cy="1408535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0000"/>
              </a:lnSpc>
              <a:tabLst>
                <a:tab pos="0" algn="l"/>
              </a:tabLst>
              <a:defRPr/>
            </a:pPr>
            <a:r>
              <a:rPr lang="en-US" sz="4200" b="1" strike="noStrike" spc="-1">
                <a:solidFill>
                  <a:srgbClr val="F8FAFC"/>
                </a:solidFill>
                <a:latin typeface="Space Grotesk"/>
                <a:ea typeface="Space Grotesk"/>
              </a:rPr>
              <a:t>Tugas EAS: Team Project (collaborative)</a:t>
            </a:r>
            <a:endParaRPr lang="en-US" sz="4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705360" name="Google Shape;87;p13"/>
          <p:cNvSpPr/>
          <p:nvPr/>
        </p:nvSpPr>
        <p:spPr bwMode="auto">
          <a:xfrm>
            <a:off x="743040" y="1729800"/>
            <a:ext cx="192384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050" b="1" strike="noStrike" spc="-1">
                <a:solidFill>
                  <a:srgbClr val="FFFFFF"/>
                </a:solidFill>
                <a:latin typeface="JetBrains Mono"/>
                <a:ea typeface="JetBrains Mono"/>
              </a:rPr>
              <a:t>Machine Learning II</a:t>
            </a:r>
            <a:endParaRPr lang="en-US" sz="105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127128" name="Google Shape;102;p14"/>
          <p:cNvSpPr/>
          <p:nvPr/>
        </p:nvSpPr>
        <p:spPr bwMode="auto">
          <a:xfrm>
            <a:off x="609480" y="771480"/>
            <a:ext cx="11604959" cy="731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800" b="0" strike="noStrik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Project kelompok sebagai UTS</a:t>
            </a:r>
            <a:endParaRPr sz="48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88792264" name=""/>
          <p:cNvSpPr txBox="1"/>
          <p:nvPr/>
        </p:nvSpPr>
        <p:spPr bwMode="auto">
          <a:xfrm rot="0" flipH="0" flipV="0">
            <a:off x="895230" y="1804901"/>
            <a:ext cx="11298750" cy="4480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195764" indent="-195764">
              <a:buFont typeface="Arial"/>
              <a:buChar char="•"/>
              <a:defRPr/>
            </a:pPr>
            <a:r>
              <a:rPr sz="2400">
                <a:latin typeface="Liberation Sans"/>
                <a:ea typeface="Liberation Sans"/>
                <a:cs typeface="Liberation Sans"/>
              </a:rPr>
              <a:t>Buat pipeline pemrosesan data (akuisisi, pengolahan, presentasi) dari irisan/gabungan topik skripsi masing-masing angota</a:t>
            </a:r>
            <a:endParaRPr sz="2400">
              <a:latin typeface="Liberation Sans"/>
              <a:ea typeface="Liberation Sans"/>
              <a:cs typeface="Liberation Sans"/>
            </a:endParaRPr>
          </a:p>
          <a:p>
            <a:pPr marL="195764" indent="-195764">
              <a:buFont typeface="Arial"/>
              <a:buChar char="•"/>
              <a:defRPr/>
            </a:pPr>
            <a:r>
              <a:rPr sz="2400">
                <a:latin typeface="Liberation Sans"/>
                <a:ea typeface="Liberation Sans"/>
                <a:cs typeface="Liberation Sans"/>
              </a:rPr>
              <a:t>Terapkan </a:t>
            </a:r>
            <a:r>
              <a:rPr sz="2400" b="1">
                <a:latin typeface="Liberation Sans"/>
                <a:ea typeface="Liberation Sans"/>
                <a:cs typeface="Liberation Sans"/>
              </a:rPr>
              <a:t>minimal 2 aspek* </a:t>
            </a:r>
            <a:r>
              <a:rPr sz="2400" b="0" i="0">
                <a:latin typeface="Liberation Sans"/>
                <a:ea typeface="Liberation Sans"/>
                <a:cs typeface="Liberation Sans"/>
              </a:rPr>
              <a:t>dari teknik yang dipelajari di Machine Learning II (imbalance data handling, data augmentation, ensemble learning, reinforcement learning, dlsb)</a:t>
            </a:r>
            <a:endParaRPr sz="2400" b="0" i="0">
              <a:latin typeface="Liberation Sans"/>
              <a:ea typeface="Liberation Sans"/>
              <a:cs typeface="Liberation Sans"/>
            </a:endParaRPr>
          </a:p>
          <a:p>
            <a:pPr marL="195764" indent="-195764">
              <a:buFont typeface="Arial"/>
              <a:buChar char="•"/>
              <a:defRPr/>
            </a:pPr>
            <a:r>
              <a:rPr sz="2400" b="0" i="0">
                <a:latin typeface="Liberation Sans"/>
                <a:ea typeface="Liberation Sans"/>
                <a:cs typeface="Liberation Sans"/>
              </a:rPr>
              <a:t>Presentasi menjelang jadwal UTS, alokasi waktu hingga 15+5 menit</a:t>
            </a:r>
            <a:endParaRPr sz="2400" b="0" i="0">
              <a:latin typeface="Liberation Sans"/>
              <a:ea typeface="Liberation Sans"/>
              <a:cs typeface="Liberation Sans"/>
            </a:endParaRPr>
          </a:p>
          <a:p>
            <a:pPr marL="195764" indent="-195764">
              <a:buFont typeface="Arial"/>
              <a:buChar char="•"/>
              <a:defRPr/>
            </a:pPr>
            <a:r>
              <a:rPr sz="2400" b="0" i="0">
                <a:latin typeface="Liberation Sans"/>
                <a:ea typeface="Liberation Sans"/>
                <a:cs typeface="Liberation Sans"/>
              </a:rPr>
              <a:t>Evaluasi peer-evaluation dari rubrik yang Dosen Pengampu tentukan</a:t>
            </a:r>
            <a:endParaRPr sz="2400" b="0" i="0">
              <a:latin typeface="Liberation Sans"/>
              <a:ea typeface="Liberation Sans"/>
              <a:cs typeface="Liberation Sans"/>
            </a:endParaRPr>
          </a:p>
          <a:p>
            <a:pPr marL="349965" indent="-349965">
              <a:buFont typeface="Arial"/>
              <a:buChar char="•"/>
              <a:defRPr/>
            </a:pPr>
            <a:endParaRPr sz="2400" b="0" i="0">
              <a:latin typeface="Liberation Sans"/>
              <a:ea typeface="Liberation Sans"/>
              <a:cs typeface="Liberation Sans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>
                <a:latin typeface="Liberation Sans"/>
                <a:ea typeface="Liberation Sans"/>
                <a:cs typeface="Liberation Sans"/>
              </a:rPr>
              <a:t>Metode Deep Learning diangap masuk sebagai aspek Ensemble Learning</a:t>
            </a:r>
            <a:endParaRPr sz="2400" b="0" i="0">
              <a:latin typeface="Liberation Sans"/>
              <a:ea typeface="Liberation Sans"/>
              <a:cs typeface="Liberation Sans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>
                <a:latin typeface="Liberation Sans"/>
                <a:ea typeface="Liberation Sans"/>
                <a:cs typeface="Liberation Sans"/>
              </a:rPr>
              <a:t>Jumlah aspek </a:t>
            </a:r>
            <a:r>
              <a:rPr sz="2400" b="0" i="1">
                <a:latin typeface="Liberation Sans"/>
                <a:ea typeface="Liberation Sans"/>
                <a:cs typeface="Liberation Sans"/>
              </a:rPr>
              <a:t>ML2 </a:t>
            </a:r>
            <a:r>
              <a:rPr sz="2400" b="0" i="0">
                <a:latin typeface="Liberation Sans"/>
                <a:ea typeface="Liberation Sans"/>
                <a:cs typeface="Liberation Sans"/>
              </a:rPr>
              <a:t>menentukan nilai </a:t>
            </a:r>
            <a:r>
              <a:rPr sz="2400" b="0" i="1">
                <a:latin typeface="Liberation Sans"/>
                <a:ea typeface="Liberation Sans"/>
                <a:cs typeface="Liberation Sans"/>
              </a:rPr>
              <a:t>minimum </a:t>
            </a:r>
            <a:r>
              <a:rPr sz="2400" b="0" i="0">
                <a:latin typeface="Liberation Sans"/>
                <a:ea typeface="Liberation Sans"/>
                <a:cs typeface="Liberation Sans"/>
              </a:rPr>
              <a:t>kelompok:</a:t>
            </a:r>
            <a:endParaRPr sz="2400" b="0" i="0"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400" b="0" i="0">
                <a:latin typeface="Liberation Sans"/>
                <a:ea typeface="Liberation Sans"/>
                <a:cs typeface="Liberation Sans"/>
              </a:rPr>
              <a:t>	</a:t>
            </a:r>
            <a:r>
              <a:rPr sz="2400" b="0" i="1">
                <a:latin typeface="Liberation Sans"/>
                <a:ea typeface="Liberation Sans"/>
                <a:cs typeface="Liberation Sans"/>
              </a:rPr>
              <a:t>2 teknik/aspek: 70</a:t>
            </a:r>
            <a:endParaRPr sz="2400" b="0" i="1"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400" b="0" i="1">
                <a:latin typeface="Liberation Sans"/>
                <a:ea typeface="Liberation Sans"/>
                <a:cs typeface="Liberation Sans"/>
              </a:rPr>
              <a:t>	3 teknik/aspek: 75 </a:t>
            </a:r>
            <a:endParaRPr sz="2400" b="0" i="1"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203527" name="Google Shape;102;p14"/>
          <p:cNvSpPr/>
          <p:nvPr/>
        </p:nvSpPr>
        <p:spPr bwMode="auto">
          <a:xfrm>
            <a:off x="609480" y="771480"/>
            <a:ext cx="11619718" cy="731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800" b="0" strike="noStrik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Rubrik peer-evaluation</a:t>
            </a:r>
            <a:r>
              <a:rPr sz="4800" b="0" strike="noStrike" spc="0">
                <a:solidFill>
                  <a:srgbClr val="000000"/>
                </a:solidFill>
                <a:latin typeface="Liberation Sans"/>
                <a:cs typeface="Liberation Sans"/>
              </a:rPr>
              <a:t> (nilai kelompok)</a:t>
            </a:r>
            <a:endParaRPr sz="48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1494394667" name=""/>
          <p:cNvSpPr txBox="1"/>
          <p:nvPr/>
        </p:nvSpPr>
        <p:spPr bwMode="auto">
          <a:xfrm rot="0" flipH="0" flipV="0">
            <a:off x="895230" y="1804900"/>
            <a:ext cx="11256991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431507503" name=""/>
          <p:cNvSpPr txBox="1"/>
          <p:nvPr/>
        </p:nvSpPr>
        <p:spPr bwMode="auto">
          <a:xfrm rot="0" flipH="0" flipV="0">
            <a:off x="895230" y="1804900"/>
            <a:ext cx="10965089" cy="3749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195763" indent="-195763">
              <a:buFont typeface="Arial"/>
              <a:buChar char="•"/>
              <a:defRPr/>
            </a:pPr>
            <a:r>
              <a:rPr sz="2400" b="1">
                <a:latin typeface="Liberation Sans"/>
                <a:ea typeface="Liberation Sans"/>
                <a:cs typeface="Liberation Sans"/>
              </a:rPr>
              <a:t>Kejelasan presentasi </a:t>
            </a:r>
            <a:r>
              <a:rPr sz="2400">
                <a:latin typeface="Liberation Sans"/>
                <a:ea typeface="Liberation Sans"/>
                <a:cs typeface="Liberation Sans"/>
              </a:rPr>
              <a:t>(mudah dipahami, latar belakang jelas dan bermanfaat/berdampak): 30%</a:t>
            </a:r>
            <a:endParaRPr sz="2400">
              <a:latin typeface="Liberation Sans"/>
              <a:ea typeface="Liberation Sans"/>
              <a:cs typeface="Liberation Sans"/>
            </a:endParaRPr>
          </a:p>
          <a:p>
            <a:pPr marL="195763" indent="-195763">
              <a:buFont typeface="Arial"/>
              <a:buChar char="•"/>
              <a:defRPr/>
            </a:pPr>
            <a:r>
              <a:rPr sz="2400" b="1">
                <a:latin typeface="Liberation Sans"/>
                <a:ea typeface="Liberation Sans"/>
                <a:cs typeface="Liberation Sans"/>
              </a:rPr>
              <a:t>Data </a:t>
            </a:r>
            <a:r>
              <a:rPr sz="2400">
                <a:latin typeface="Liberation Sans"/>
                <a:ea typeface="Liberation Sans"/>
                <a:cs typeface="Liberation Sans"/>
              </a:rPr>
              <a:t>wrangling dan data augmentation (mengapa diperlukan dan bagaimana dilakukan): 15%</a:t>
            </a:r>
            <a:endParaRPr sz="2400">
              <a:latin typeface="Liberation Sans"/>
              <a:ea typeface="Liberation Sans"/>
              <a:cs typeface="Liberation Sans"/>
            </a:endParaRPr>
          </a:p>
          <a:p>
            <a:pPr marL="195763" indent="-195763">
              <a:buFont typeface="Arial"/>
              <a:buChar char="•"/>
              <a:defRPr/>
            </a:pPr>
            <a:r>
              <a:rPr sz="2400" b="1">
                <a:latin typeface="Liberation Sans"/>
                <a:ea typeface="Liberation Sans"/>
                <a:cs typeface="Liberation Sans"/>
              </a:rPr>
              <a:t>Ensemble </a:t>
            </a:r>
            <a:r>
              <a:rPr sz="2400">
                <a:latin typeface="Liberation Sans"/>
                <a:ea typeface="Liberation Sans"/>
                <a:cs typeface="Liberation Sans"/>
              </a:rPr>
              <a:t>learning (kesesuaian arsitektur dan performa [yang lebih baik] dibandingkan model lain): 15%</a:t>
            </a:r>
            <a:endParaRPr sz="2400">
              <a:latin typeface="Liberation Sans"/>
              <a:ea typeface="Liberation Sans"/>
              <a:cs typeface="Liberation Sans"/>
            </a:endParaRPr>
          </a:p>
          <a:p>
            <a:pPr marL="195763" indent="-195763">
              <a:buFont typeface="Arial"/>
              <a:buChar char="•"/>
              <a:defRPr/>
            </a:pPr>
            <a:r>
              <a:rPr sz="2400" b="1">
                <a:latin typeface="Liberation Sans"/>
                <a:ea typeface="Liberation Sans"/>
                <a:cs typeface="Liberation Sans"/>
              </a:rPr>
              <a:t>Reinforcement </a:t>
            </a:r>
            <a:r>
              <a:rPr sz="2400" b="0">
                <a:latin typeface="Liberation Sans"/>
                <a:ea typeface="Liberation Sans"/>
                <a:cs typeface="Liberation Sans"/>
              </a:rPr>
              <a:t>(bagaimana tambahan iterasi dan data dapat meningkatkan performa model/sistem sesuai </a:t>
            </a:r>
            <a:r>
              <a:rPr sz="2400" b="0" i="1">
                <a:latin typeface="Liberation Sans"/>
                <a:ea typeface="Liberation Sans"/>
                <a:cs typeface="Liberation Sans"/>
              </a:rPr>
              <a:t>tujuan</a:t>
            </a:r>
            <a:r>
              <a:rPr sz="2400" b="0">
                <a:latin typeface="Liberation Sans"/>
                <a:ea typeface="Liberation Sans"/>
                <a:cs typeface="Liberation Sans"/>
              </a:rPr>
              <a:t>): 15%</a:t>
            </a:r>
            <a:endParaRPr sz="2400" b="0">
              <a:latin typeface="Liberation Sans"/>
              <a:ea typeface="Liberation Sans"/>
              <a:cs typeface="Liberation Sans"/>
            </a:endParaRPr>
          </a:p>
          <a:p>
            <a:pPr marL="195763" indent="-195763">
              <a:buFont typeface="Arial"/>
              <a:buChar char="•"/>
              <a:defRPr/>
            </a:pPr>
            <a:r>
              <a:rPr sz="2400" b="1">
                <a:latin typeface="Liberation Sans"/>
                <a:ea typeface="Liberation Sans"/>
                <a:cs typeface="Liberation Sans"/>
              </a:rPr>
              <a:t>Analisis dan diskusi </a:t>
            </a:r>
            <a:r>
              <a:rPr sz="2400" b="0">
                <a:latin typeface="Liberation Sans"/>
                <a:ea typeface="Liberation Sans"/>
                <a:cs typeface="Liberation Sans"/>
              </a:rPr>
              <a:t>(batasan, </a:t>
            </a:r>
            <a:r>
              <a:rPr sz="2400" b="0" i="1">
                <a:latin typeface="Liberation Sans"/>
                <a:ea typeface="Liberation Sans"/>
                <a:cs typeface="Liberation Sans"/>
              </a:rPr>
              <a:t>trade-off</a:t>
            </a:r>
            <a:r>
              <a:rPr sz="2400" b="0">
                <a:latin typeface="Liberation Sans"/>
                <a:ea typeface="Liberation Sans"/>
                <a:cs typeface="Liberation Sans"/>
              </a:rPr>
              <a:t>,  sumber galat, potensi pengembangan, </a:t>
            </a:r>
            <a:r>
              <a:rPr sz="2400" b="0" i="1">
                <a:latin typeface="Liberation Sans"/>
                <a:ea typeface="Liberation Sans"/>
                <a:cs typeface="Liberation Sans"/>
              </a:rPr>
              <a:t>insight</a:t>
            </a:r>
            <a:r>
              <a:rPr sz="2400" b="0">
                <a:latin typeface="Liberation Sans"/>
                <a:ea typeface="Liberation Sans"/>
                <a:cs typeface="Liberation Sans"/>
              </a:rPr>
              <a:t>): 25%</a:t>
            </a:r>
            <a:endParaRPr sz="2400" b="0"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342995" name="Google Shape;102;p14"/>
          <p:cNvSpPr/>
          <p:nvPr/>
        </p:nvSpPr>
        <p:spPr bwMode="auto">
          <a:xfrm>
            <a:off x="609480" y="771480"/>
            <a:ext cx="11628358" cy="731879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800" b="0" strike="noStrike" spc="0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Nilai individu</a:t>
            </a:r>
            <a:endParaRPr sz="4800" b="0" strike="noStrike" spc="0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55993476" name=""/>
          <p:cNvSpPr txBox="1"/>
          <p:nvPr/>
        </p:nvSpPr>
        <p:spPr bwMode="auto">
          <a:xfrm rot="0" flipH="0" flipV="0">
            <a:off x="895230" y="1804900"/>
            <a:ext cx="11256991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377464513" name=""/>
          <p:cNvSpPr txBox="1"/>
          <p:nvPr/>
        </p:nvSpPr>
        <p:spPr bwMode="auto">
          <a:xfrm rot="0" flipH="0" flipV="0">
            <a:off x="895230" y="1804900"/>
            <a:ext cx="11134289" cy="3749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195763" indent="-195763">
              <a:buFont typeface="Arial"/>
              <a:buChar char="•"/>
              <a:defRPr/>
            </a:pPr>
            <a:r>
              <a:rPr sz="2400" b="0">
                <a:latin typeface="Liberation Sans"/>
                <a:ea typeface="Liberation Sans"/>
                <a:cs typeface="Liberation Sans"/>
              </a:rPr>
              <a:t>Kontribusi </a:t>
            </a:r>
            <a:r>
              <a:rPr sz="2400" b="0" i="1">
                <a:latin typeface="Liberation Sans"/>
                <a:ea typeface="Liberation Sans"/>
                <a:cs typeface="Liberation Sans"/>
              </a:rPr>
              <a:t>commit </a:t>
            </a:r>
            <a:r>
              <a:rPr sz="2400" b="0">
                <a:latin typeface="Liberation Sans"/>
                <a:ea typeface="Liberation Sans"/>
                <a:cs typeface="Liberation Sans"/>
              </a:rPr>
              <a:t>di repository github menentukan nilai </a:t>
            </a:r>
            <a:r>
              <a:rPr sz="2400" b="0" i="1">
                <a:latin typeface="Liberation Sans"/>
                <a:ea typeface="Liberation Sans"/>
                <a:cs typeface="Liberation Sans"/>
              </a:rPr>
              <a:t>minimum </a:t>
            </a:r>
            <a:r>
              <a:rPr sz="2400" b="0">
                <a:latin typeface="Liberation Sans"/>
                <a:ea typeface="Liberation Sans"/>
                <a:cs typeface="Liberation Sans"/>
              </a:rPr>
              <a:t>individu</a:t>
            </a:r>
            <a:r>
              <a:rPr sz="2400" b="0">
                <a:latin typeface="Liberation Sans"/>
                <a:ea typeface="Liberation Sans"/>
                <a:cs typeface="Liberation Sans"/>
              </a:rPr>
              <a:t>:</a:t>
            </a:r>
            <a:endParaRPr sz="2400" b="0"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400" b="0" i="1">
                <a:latin typeface="Liberation Sans"/>
                <a:ea typeface="Liberation Sans"/>
                <a:cs typeface="Liberation Sans"/>
              </a:rPr>
              <a:t>	2 commit: 65</a:t>
            </a:r>
            <a:endParaRPr sz="2400" b="0" i="1"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400" b="0" i="1">
                <a:latin typeface="Liberation Sans"/>
                <a:ea typeface="Liberation Sans"/>
                <a:cs typeface="Liberation Sans"/>
              </a:rPr>
              <a:t>	5 commit: 70</a:t>
            </a:r>
            <a:endParaRPr sz="2400" b="0" i="1"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400" b="0" i="1">
                <a:latin typeface="Liberation Sans"/>
                <a:ea typeface="Liberation Sans"/>
                <a:cs typeface="Liberation Sans"/>
              </a:rPr>
              <a:t>	10 commit: 75</a:t>
            </a:r>
            <a:endParaRPr sz="2400" b="0" i="1"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r>
              <a:rPr sz="2400" b="0" i="1">
                <a:latin typeface="Liberation Sans"/>
                <a:ea typeface="Liberation Sans"/>
                <a:cs typeface="Liberation Sans"/>
              </a:rPr>
              <a:t>	&lt;2 commit: 60</a:t>
            </a:r>
            <a:endParaRPr sz="2400" b="0" i="1">
              <a:latin typeface="Liberation Sans"/>
              <a:ea typeface="Liberation Sans"/>
              <a:cs typeface="Liberation Sans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>
                <a:latin typeface="Liberation Sans"/>
                <a:ea typeface="Liberation Sans"/>
                <a:cs typeface="Liberation Sans"/>
              </a:rPr>
              <a:t>Ambang nilai terendah diambil dari nilai terendah antara </a:t>
            </a:r>
            <a:r>
              <a:rPr sz="2400" b="0" i="0" u="sng">
                <a:latin typeface="Liberation Sans"/>
                <a:ea typeface="Liberation Sans"/>
                <a:cs typeface="Liberation Sans"/>
              </a:rPr>
              <a:t>nilai minimum kelompok </a:t>
            </a:r>
            <a:r>
              <a:rPr sz="2400" b="0" i="0">
                <a:latin typeface="Liberation Sans"/>
                <a:ea typeface="Liberation Sans"/>
                <a:cs typeface="Liberation Sans"/>
              </a:rPr>
              <a:t>dan </a:t>
            </a:r>
            <a:r>
              <a:rPr sz="2400" b="0" i="0" u="sng">
                <a:latin typeface="Liberation Sans"/>
                <a:ea typeface="Liberation Sans"/>
                <a:cs typeface="Liberation Sans"/>
              </a:rPr>
              <a:t>nilai minimum individu</a:t>
            </a:r>
            <a:endParaRPr sz="2400" b="0" i="1">
              <a:latin typeface="Liberation Sans"/>
              <a:ea typeface="Liberation Sans"/>
              <a:cs typeface="Liberation Sans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>
                <a:latin typeface="Liberation Sans"/>
                <a:ea typeface="Liberation Sans"/>
                <a:cs typeface="Liberation Sans"/>
              </a:rPr>
              <a:t>Aktif bertanya sebagai audiens: +1 poin (maks 5 poin)</a:t>
            </a:r>
            <a:endParaRPr sz="2400" b="0" i="0">
              <a:latin typeface="Liberation Sans"/>
              <a:ea typeface="Liberation Sans"/>
              <a:cs typeface="Liberation Sans"/>
            </a:endParaRPr>
          </a:p>
          <a:p>
            <a:pPr marL="349965" indent="-349965">
              <a:buFont typeface="Arial"/>
              <a:buChar char="•"/>
              <a:defRPr/>
            </a:pPr>
            <a:r>
              <a:rPr sz="2400" b="0" i="0">
                <a:latin typeface="Liberation Sans"/>
                <a:ea typeface="Liberation Sans"/>
                <a:cs typeface="Liberation Sans"/>
              </a:rPr>
              <a:t>Lupa memberikan evaluasi untuk kelompok yang presentasi: -1 poin</a:t>
            </a:r>
            <a:endParaRPr sz="2400" b="0" i="0">
              <a:latin typeface="Liberation Sans"/>
              <a:ea typeface="Liberation Sans"/>
              <a:cs typeface="Liberation Sans"/>
            </a:endParaRPr>
          </a:p>
          <a:p>
            <a:pPr>
              <a:defRPr/>
            </a:pPr>
            <a:endParaRPr sz="2400" b="0">
              <a:latin typeface="Liberation Sans"/>
              <a:ea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PresentationFormat>On-screen Show (4:3)</PresentationFormat>
  <Paragraphs>0</Paragraphs>
  <Slides>4</Slides>
  <Notes>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Theme 1</vt:lpstr>
      <vt:lpstr>Slide 1</vt:lpstr>
      <vt:lpstr>Slide 2</vt:lpstr>
      <vt:lpstr>Slide 3</vt:lpstr>
      <vt:lpstr>Slide 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dc:language>en-US</dc:language>
  <cp:lastModifiedBy/>
  <cp:revision>2</cp:revision>
  <dcterms:modified xsi:type="dcterms:W3CDTF">2026-10-02T05:59:52Z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9</vt:i4>
  </property>
  <property fmtid="{D5CDD505-2E9C-101B-9397-08002B2CF9AE}" pid="4" name="PresentationFormat">
    <vt:lpwstr>On-screen Show (4:3)</vt:lpwstr>
  </property>
  <property fmtid="{D5CDD505-2E9C-101B-9397-08002B2CF9AE}" pid="5" name="Slides">
    <vt:i4>9</vt:i4>
  </property>
</Properties>
</file>