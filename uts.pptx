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1213756416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06163D-6B92-1E99-1920-9BC0283BFF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B28797-2064-8F2C-3276-CE9D89523D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7419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529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844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3C1AF-2760-3C36-9232-E5466FF53B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8321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7885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631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DFE824-BE4C-C517-9F55-FB701F59D9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9645431" name="PlaceHolder 1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57677112" name="PlaceHolder 2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8F37A159-0DD6-48AF-8F93-B0EF26AD1068}" type="slidenum">
              <a:rPr/>
              <a:t>&lt;#&gt;</a:t>
            </a:fld>
            <a:endParaRPr/>
          </a:p>
        </p:txBody>
      </p:sp>
      <p:sp>
        <p:nvSpPr>
          <p:cNvPr id="1794675452" name="PlaceHolder 3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3538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393329" name="PlaceHolder 2"/>
          <p:cNvSpPr>
            <a:spLocks noGrp="1"/>
          </p:cNvSpPr>
          <p:nvPr>
            <p:ph type="subTitle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641782" name="PlaceHolder 3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46969878" name="PlaceHolder 4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2FFB070E-2F1E-4661-9A50-22A49F87D8AF}" type="slidenum">
              <a:rPr/>
              <a:t>&lt;#&gt;</a:t>
            </a:fld>
            <a:endParaRPr/>
          </a:p>
        </p:txBody>
      </p:sp>
      <p:sp>
        <p:nvSpPr>
          <p:cNvPr id="977614253" name="PlaceHolder 5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,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39531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100960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7350099" name="PlaceHolder 3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331954806" name="PlaceHolder 4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0631A185-5425-46AA-873E-457B77871579}" type="slidenum">
              <a:rPr/>
              <a:t>&lt;#&gt;</a:t>
            </a:fld>
            <a:endParaRPr/>
          </a:p>
        </p:txBody>
      </p:sp>
      <p:sp>
        <p:nvSpPr>
          <p:cNvPr id="312652450" name="PlaceHolder 5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itle,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91330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019725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964307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63564" name="PlaceHolder 4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064413729" name="PlaceHolder 5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6C0ADBD8-E0D9-4E96-8ED0-6C9B7C500724}" type="slidenum">
              <a:rPr/>
              <a:t>&lt;#&gt;</a:t>
            </a:fld>
            <a:endParaRPr/>
          </a:p>
        </p:txBody>
      </p:sp>
      <p:sp>
        <p:nvSpPr>
          <p:cNvPr id="725330026" name="PlaceHolder 6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6869494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985838" name="PlaceHolder 2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316206063" name="PlaceHolder 3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CB11A6C1-F99A-43CD-8F59-917682143C15}" type="slidenum">
              <a:rPr/>
              <a:t>&lt;#&gt;</a:t>
            </a:fld>
            <a:endParaRPr/>
          </a:p>
        </p:txBody>
      </p:sp>
      <p:sp>
        <p:nvSpPr>
          <p:cNvPr id="839771678" name="PlaceHolder 4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Only" userDrawn="1">
  <p:cSld name="Centere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862292" name="PlaceHolder 1"/>
          <p:cNvSpPr>
            <a:spLocks noGrp="1"/>
          </p:cNvSpPr>
          <p:nvPr>
            <p:ph type="subTitle"/>
          </p:nvPr>
        </p:nvSpPr>
        <p:spPr bwMode="auto"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defRPr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987765" name="PlaceHolder 2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20306902" name="PlaceHolder 3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AFFADEE3-D593-48D4-A7AB-82B543D819E2}" type="slidenum">
              <a:rPr/>
              <a:t>&lt;#&gt;</a:t>
            </a:fld>
            <a:endParaRPr/>
          </a:p>
        </p:txBody>
      </p:sp>
      <p:sp>
        <p:nvSpPr>
          <p:cNvPr id="215051838" name="PlaceHolder 4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AndObj" userDrawn="1">
  <p:cSld name="Title, 2 Content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722210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122528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367247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035435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21391" name="PlaceHolder 5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300680715" name="PlaceHolder 6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51A1047D-C27A-4545-BE69-856D175531E0}" type="slidenum">
              <a:rPr/>
              <a:t>&lt;#&gt;</a:t>
            </a:fld>
            <a:endParaRPr/>
          </a:p>
        </p:txBody>
      </p:sp>
      <p:sp>
        <p:nvSpPr>
          <p:cNvPr id="1587080594" name="PlaceHolder 7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AndTwoObj" userDrawn="1">
  <p:cSld name="Title Content and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24071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64165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754758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477694" name="PlaceHolder 4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15603" name="PlaceHolder 5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284752505" name="PlaceHolder 6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C71037D2-8DFB-4567-BCA8-6186E8BAD8BB}" type="slidenum">
              <a:rPr/>
              <a:t>&lt;#&gt;</a:t>
            </a:fld>
            <a:endParaRPr/>
          </a:p>
        </p:txBody>
      </p:sp>
      <p:sp>
        <p:nvSpPr>
          <p:cNvPr id="499861811" name="PlaceHolder 7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OverTx" userDrawn="1">
  <p:cSld name="Title, 2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1785158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060023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104210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84406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235891" name="PlaceHolder 5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23546354" name="PlaceHolder 6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972DA9E6-5D52-4B4A-8F5A-D958D5259E7A}" type="slidenum">
              <a:rPr/>
              <a:t>&lt;#&gt;</a:t>
            </a:fld>
            <a:endParaRPr/>
          </a:p>
        </p:txBody>
      </p:sp>
      <p:sp>
        <p:nvSpPr>
          <p:cNvPr id="570734662" name="PlaceHolder 7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OverTx" userDrawn="1">
  <p:cSld name="Title,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6913292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972952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222908" name="PlaceHolder 3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103706" name="PlaceHolder 4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328245233" name="PlaceHolder 5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6C276ACE-494D-49BF-B1BF-B5EAA6F2DE0B}" type="slidenum">
              <a:rPr/>
              <a:t>&lt;#&gt;</a:t>
            </a:fld>
            <a:endParaRPr/>
          </a:p>
        </p:txBody>
      </p:sp>
      <p:sp>
        <p:nvSpPr>
          <p:cNvPr id="940621909" name="PlaceHolder 6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fourObj" userDrawn="1">
  <p:cSld name="Title, 4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639974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00464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741143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109911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194765" name="PlaceHolder 5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656138" name="PlaceHolder 6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646921330" name="PlaceHolder 7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EB092C12-B7BA-4D4A-B30E-4D52A3DDC6AF}" type="slidenum">
              <a:rPr/>
              <a:t>&lt;#&gt;</a:t>
            </a:fld>
            <a:endParaRPr/>
          </a:p>
        </p:txBody>
      </p:sp>
      <p:sp>
        <p:nvSpPr>
          <p:cNvPr id="506434606" name="PlaceHolder 8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, 6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24230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043180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64191" name="PlaceHolder 3"/>
          <p:cNvSpPr>
            <a:spLocks noGrp="1"/>
          </p:cNvSpPr>
          <p:nvPr>
            <p:ph/>
          </p:nvPr>
        </p:nvSpPr>
        <p:spPr bwMode="auto"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930024" name="PlaceHolder 4"/>
          <p:cNvSpPr>
            <a:spLocks noGrp="1"/>
          </p:cNvSpPr>
          <p:nvPr>
            <p:ph/>
          </p:nvPr>
        </p:nvSpPr>
        <p:spPr bwMode="auto"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045294" name="PlaceHolder 5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445336" name="PlaceHolder 6"/>
          <p:cNvSpPr>
            <a:spLocks noGrp="1"/>
          </p:cNvSpPr>
          <p:nvPr>
            <p:ph/>
          </p:nvPr>
        </p:nvSpPr>
        <p:spPr bwMode="auto"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0236" name="PlaceHolder 7"/>
          <p:cNvSpPr>
            <a:spLocks noGrp="1"/>
          </p:cNvSpPr>
          <p:nvPr>
            <p:ph/>
          </p:nvPr>
        </p:nvSpPr>
        <p:spPr bwMode="auto"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378740" name="PlaceHolder 8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36272704" name="PlaceHolder 9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FED18ECA-EC1B-4C85-85BA-6245DD57082F}" type="slidenum">
              <a:rPr/>
              <a:t>&lt;#&gt;</a:t>
            </a:fld>
            <a:endParaRPr/>
          </a:p>
        </p:txBody>
      </p:sp>
      <p:sp>
        <p:nvSpPr>
          <p:cNvPr id="1877640497" name="PlaceHolder 10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0465277" name="PlaceHolder 1"/>
          <p:cNvSpPr>
            <a:spLocks noGrp="1"/>
          </p:cNvSpPr>
          <p:nvPr>
            <p:ph type="dt" idx="1"/>
          </p:nvPr>
        </p:nvSpPr>
        <p:spPr bwMode="auto"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930818" name="PlaceHolder 2"/>
          <p:cNvSpPr>
            <a:spLocks noGrp="1"/>
          </p:cNvSpPr>
          <p:nvPr>
            <p:ph type="ftr" idx="2"/>
          </p:nvPr>
        </p:nvSpPr>
        <p:spPr bwMode="auto"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333825" name="PlaceHolder 3"/>
          <p:cNvSpPr>
            <a:spLocks noGrp="1"/>
          </p:cNvSpPr>
          <p:nvPr>
            <p:ph type="sldNum" idx="3"/>
          </p:nvPr>
        </p:nvSpPr>
        <p:spPr bwMode="auto"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022C36A-A588-4C9F-A901-59947DB1B9DF}" type="slidenum">
              <a:rPr lang="en-US" sz="1200" b="0" strike="noStrike" spc="-1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478934" name="PlaceHolder 4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608869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90D1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09656" name="Google Shape;84;p13"/>
          <p:cNvSpPr/>
          <p:nvPr/>
        </p:nvSpPr>
        <p:spPr bwMode="auto">
          <a:xfrm>
            <a:off x="609480" y="1672560"/>
            <a:ext cx="2095200" cy="285480"/>
          </a:xfrm>
          <a:prstGeom prst="roundRect">
            <a:avLst>
              <a:gd name="adj" fmla="val 13333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  <a:defRPr/>
            </a:pPr>
            <a:endParaRPr lang="en-US" sz="1800" b="0" strike="noStrike" spc="-1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984912075" name="Google Shape;85;p13"/>
          <p:cNvSpPr/>
          <p:nvPr/>
        </p:nvSpPr>
        <p:spPr bwMode="auto">
          <a:xfrm>
            <a:off x="990479" y="2187000"/>
            <a:ext cx="9130679" cy="1408535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4200" b="1" strike="noStrike" spc="-1">
                <a:solidFill>
                  <a:srgbClr val="F8FAFC"/>
                </a:solidFill>
                <a:latin typeface="Space Grotesk"/>
                <a:ea typeface="Space Grotesk"/>
              </a:rPr>
              <a:t>Tugas ETS: Team Project (kolaboratif)</a:t>
            </a:r>
            <a:endParaRPr lang="en-US" sz="4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557952" name="Google Shape;87;p13"/>
          <p:cNvSpPr/>
          <p:nvPr/>
        </p:nvSpPr>
        <p:spPr bwMode="auto">
          <a:xfrm>
            <a:off x="743040" y="1729800"/>
            <a:ext cx="19238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050" b="1" strike="noStrike" spc="-1">
                <a:solidFill>
                  <a:srgbClr val="FFFFFF"/>
                </a:solidFill>
                <a:latin typeface="JetBrains Mono"/>
                <a:ea typeface="JetBrains Mono"/>
              </a:rPr>
              <a:t>Machine Learning II</a:t>
            </a:r>
            <a:endParaRPr lang="en-US" sz="10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9035252" name="Google Shape;102;p14"/>
          <p:cNvSpPr/>
          <p:nvPr/>
        </p:nvSpPr>
        <p:spPr bwMode="auto">
          <a:xfrm>
            <a:off x="609480" y="771480"/>
            <a:ext cx="11605319" cy="731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4800" b="0" strike="noStrik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Project kelompok sebagai ETS</a:t>
            </a:r>
            <a:endParaRPr sz="4800" b="0" strike="noStrike" spc="-1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88792264" name=""/>
          <p:cNvSpPr txBox="1"/>
          <p:nvPr/>
        </p:nvSpPr>
        <p:spPr bwMode="auto">
          <a:xfrm rot="0" flipH="0" flipV="0">
            <a:off x="895230" y="1804901"/>
            <a:ext cx="11306310" cy="44809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195764" indent="-195764">
              <a:buFont typeface="Arial"/>
              <a:buChar char="•"/>
              <a:defRPr/>
            </a:pPr>
            <a:r>
              <a:rPr sz="2400">
                <a:latin typeface="Liberation Sans"/>
                <a:ea typeface="Liberation Sans"/>
                <a:cs typeface="Liberation Sans"/>
              </a:rPr>
              <a:t>Buat pipeline pemrosesan data (akuisisi, pengolahan, presentasi) dari irisan/gabungan/pilihan topik skripsi masing-masing angota</a:t>
            </a:r>
            <a:endParaRPr sz="2400">
              <a:latin typeface="Liberation Sans"/>
              <a:ea typeface="Liberation Sans"/>
              <a:cs typeface="Liberation Sans"/>
            </a:endParaRPr>
          </a:p>
          <a:p>
            <a:pPr marL="195764" indent="-195764">
              <a:buFont typeface="Arial"/>
              <a:buChar char="•"/>
              <a:defRPr/>
            </a:pPr>
            <a:r>
              <a:rPr sz="2400">
                <a:latin typeface="Liberation Sans"/>
                <a:ea typeface="Liberation Sans"/>
                <a:cs typeface="Liberation Sans"/>
              </a:rPr>
              <a:t>Terapkan </a:t>
            </a:r>
            <a:r>
              <a:rPr sz="2400" b="1">
                <a:latin typeface="Liberation Sans"/>
                <a:ea typeface="Liberation Sans"/>
                <a:cs typeface="Liberation Sans"/>
              </a:rPr>
              <a:t>minimal 2 aspek* </a:t>
            </a:r>
            <a:r>
              <a:rPr sz="2400" b="0" i="0">
                <a:latin typeface="Liberation Sans"/>
                <a:ea typeface="Liberation Sans"/>
                <a:cs typeface="Liberation Sans"/>
              </a:rPr>
              <a:t>dari teknik yang dipelajari di Machine Learning II (imbalance data handling, data augmentation, ensemble learning, reinforcement learning, dlsb)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195764" indent="-195764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Presentasi menjelang jadwal ETS, alokasi waktu hingga 15+5 menit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195764" indent="-195764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Evaluasi peer-evaluation dari rubrik yang Dosen Pengampu tentukan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Metode Deep Learning diangap masuk sebagai aspek Ensemble Learning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Jumlah aspek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ML2 </a:t>
            </a:r>
            <a:r>
              <a:rPr sz="2400" b="0" i="0">
                <a:latin typeface="Liberation Sans"/>
                <a:ea typeface="Liberation Sans"/>
                <a:cs typeface="Liberation Sans"/>
              </a:rPr>
              <a:t>menentukan nilai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minimum </a:t>
            </a:r>
            <a:r>
              <a:rPr sz="2400" b="0" i="0">
                <a:latin typeface="Liberation Sans"/>
                <a:ea typeface="Liberation Sans"/>
                <a:cs typeface="Liberation Sans"/>
              </a:rPr>
              <a:t>kelompok: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	&lt;=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2 teknik/aspek: 70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&gt;=3 teknik/aspek: 75 </a:t>
            </a:r>
            <a:endParaRPr sz="2400" b="0" i="1">
              <a:latin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203527" name="Google Shape;102;p14"/>
          <p:cNvSpPr/>
          <p:nvPr/>
        </p:nvSpPr>
        <p:spPr bwMode="auto">
          <a:xfrm>
            <a:off x="609480" y="771480"/>
            <a:ext cx="11619718" cy="731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4800" b="0" strike="noStrik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Rubrik peer-evaluation</a:t>
            </a:r>
            <a:r>
              <a:rPr sz="4800" b="0" strike="noStrike" spc="0">
                <a:solidFill>
                  <a:srgbClr val="000000"/>
                </a:solidFill>
                <a:latin typeface="Liberation Sans"/>
                <a:cs typeface="Liberation Sans"/>
              </a:rPr>
              <a:t> (nilai kelompok)</a:t>
            </a:r>
            <a:endParaRPr sz="4800" b="0" strike="noStrike" spc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1494394667" name=""/>
          <p:cNvSpPr txBox="1"/>
          <p:nvPr/>
        </p:nvSpPr>
        <p:spPr bwMode="auto">
          <a:xfrm rot="0" flipH="0" flipV="0">
            <a:off x="895230" y="1804900"/>
            <a:ext cx="11256991" cy="244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431507503" name=""/>
          <p:cNvSpPr txBox="1"/>
          <p:nvPr/>
        </p:nvSpPr>
        <p:spPr bwMode="auto">
          <a:xfrm rot="0" flipH="0" flipV="0">
            <a:off x="895230" y="1804900"/>
            <a:ext cx="10992809" cy="44809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Kejelasan presentasi </a:t>
            </a:r>
            <a:r>
              <a:rPr sz="2400">
                <a:latin typeface="Liberation Sans"/>
                <a:ea typeface="Liberation Sans"/>
                <a:cs typeface="Liberation Sans"/>
              </a:rPr>
              <a:t>(mudah dipahami, latar belakang jelas dan kebermanfaatan/keberdampakan): 30%</a:t>
            </a:r>
            <a:endParaRPr sz="240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Data </a:t>
            </a:r>
            <a:r>
              <a:rPr sz="2400">
                <a:latin typeface="Liberation Sans"/>
                <a:ea typeface="Liberation Sans"/>
                <a:cs typeface="Liberation Sans"/>
              </a:rPr>
              <a:t>wrangling dan data augmentation (mengapa diperlukan dan bagaimana dilakukan): 15%</a:t>
            </a:r>
            <a:endParaRPr sz="240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Ensemble </a:t>
            </a:r>
            <a:r>
              <a:rPr sz="2400">
                <a:latin typeface="Liberation Sans"/>
                <a:ea typeface="Liberation Sans"/>
                <a:cs typeface="Liberation Sans"/>
              </a:rPr>
              <a:t>learning (kesesuaian arsitektur dan performa [yang lebih baik] dibandingkan model lain): 15%</a:t>
            </a:r>
            <a:endParaRPr sz="240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Reinforcement 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(bagaimana tambahan iterasi dan data dapat meningkatkan performa model/sistem sesuai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tujuan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): 15%</a:t>
            </a:r>
            <a:endParaRPr sz="2400" b="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Analisis dan diskusi 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(batasan,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trade-off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,  sumber galat, potensi pengembangan,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insight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): 25%</a:t>
            </a:r>
            <a:endParaRPr sz="2400" b="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endParaRPr sz="2400" b="0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>
                <a:latin typeface="Liberation Sans"/>
                <a:ea typeface="Liberation Sans"/>
                <a:cs typeface="Liberation Sans"/>
              </a:rPr>
              <a:t>Presentasi tanggal 20-21-23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 Oktober 2026 (tentatif).</a:t>
            </a:r>
            <a:endParaRPr sz="2400" b="0">
              <a:latin typeface="Liberation Sans"/>
              <a:ea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342995" name="Google Shape;102;p14"/>
          <p:cNvSpPr/>
          <p:nvPr/>
        </p:nvSpPr>
        <p:spPr bwMode="auto">
          <a:xfrm>
            <a:off x="609480" y="771480"/>
            <a:ext cx="11628358" cy="731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4800" b="0" strike="noStrik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Nilai individu</a:t>
            </a:r>
            <a:endParaRPr sz="4800" b="0" strike="noStrike" spc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55993476" name=""/>
          <p:cNvSpPr txBox="1"/>
          <p:nvPr/>
        </p:nvSpPr>
        <p:spPr bwMode="auto">
          <a:xfrm rot="0" flipH="0" flipV="0">
            <a:off x="895230" y="1804900"/>
            <a:ext cx="11256991" cy="244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377464513" name=""/>
          <p:cNvSpPr txBox="1"/>
          <p:nvPr/>
        </p:nvSpPr>
        <p:spPr bwMode="auto">
          <a:xfrm rot="0" flipH="0" flipV="0">
            <a:off x="895230" y="1804900"/>
            <a:ext cx="11134649" cy="3749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195763" indent="-195763">
              <a:buFont typeface="Arial"/>
              <a:buChar char="•"/>
              <a:defRPr/>
            </a:pPr>
            <a:r>
              <a:rPr sz="2400" b="0">
                <a:latin typeface="Liberation Sans"/>
                <a:ea typeface="Liberation Sans"/>
                <a:cs typeface="Liberation Sans"/>
              </a:rPr>
              <a:t>Kontribusi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commit 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di repository github menentukan nilai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minimum 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individu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:</a:t>
            </a:r>
            <a:endParaRPr sz="2400" b="0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2 commit: 65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5 commit: 70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10 commit: 75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&lt;2 commit: 60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Ambang nilai terendah diambil dari nilai terendah antara </a:t>
            </a:r>
            <a:r>
              <a:rPr sz="2400" b="0" i="0" u="sng">
                <a:latin typeface="Liberation Sans"/>
                <a:ea typeface="Liberation Sans"/>
                <a:cs typeface="Liberation Sans"/>
              </a:rPr>
              <a:t>nilai minimum kelompok </a:t>
            </a:r>
            <a:r>
              <a:rPr sz="2400" b="0" i="0">
                <a:latin typeface="Liberation Sans"/>
                <a:ea typeface="Liberation Sans"/>
                <a:cs typeface="Liberation Sans"/>
              </a:rPr>
              <a:t>dan </a:t>
            </a:r>
            <a:r>
              <a:rPr sz="2400" b="0" i="0" u="sng">
                <a:latin typeface="Liberation Sans"/>
                <a:ea typeface="Liberation Sans"/>
                <a:cs typeface="Liberation Sans"/>
              </a:rPr>
              <a:t>nilai minimum individu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Aktif bertanya sebagai audiens: +1 poin (maks 8 poin)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Lupa memberikan evaluasi untuk kelompok yang presentasi: -1 poin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endParaRPr sz="2400" b="0">
              <a:latin typeface="Liberation Sans"/>
              <a:ea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ONLYOFFICE/9.0.4.50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en-US</dc:language>
  <cp:lastModifiedBy/>
  <cp:revision>2</cp:revision>
  <dcterms:modified xsi:type="dcterms:W3CDTF">2026-10-02T07:23:28Z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9</vt:i4>
  </property>
  <property fmtid="{D5CDD505-2E9C-101B-9397-08002B2CF9AE}" pid="4" name="PresentationFormat">
    <vt:lpwstr>On-screen Show (4:3)</vt:lpwstr>
  </property>
  <property fmtid="{D5CDD505-2E9C-101B-9397-08002B2CF9AE}" pid="5" name="Slides">
    <vt:i4>9</vt:i4>
  </property>
</Properties>
</file>