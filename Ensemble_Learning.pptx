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409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6447986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20057432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9274664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5014160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733531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5855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0455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64395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8104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5123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32804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6387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597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700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2768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973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65308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1360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0846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09348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130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96265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0224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107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8735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4452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C9C83D-0A45-29D9-FB04-A586537362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752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178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6842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9FFEBB-A46B-21C6-C5EE-2DCB7DDDE909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6614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07397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5342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1835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73164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31278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4E52B8-C724-EF64-110E-E27E1DBCB550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251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4913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9278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7352A6-C034-C3EC-F2EE-D901ADE85673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18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8587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9684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825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8217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03429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2CADC-55F7-43D4-58AA-5845C162BDDA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7507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4785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76340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3CEFAF-34D1-A015-120A-38B9EE5F520B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4991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1015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464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073745-5CB8-9626-B53A-DC5FD3D2ED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0909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43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2797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21295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7834801" name="Shape 0"/>
          <p:cNvSpPr/>
          <p:nvPr/>
        </p:nvSpPr>
        <p:spPr bwMode="auto">
          <a:xfrm>
            <a:off x="877824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883533200" name="Shape 1"/>
          <p:cNvSpPr/>
          <p:nvPr/>
        </p:nvSpPr>
        <p:spPr bwMode="auto">
          <a:xfrm>
            <a:off x="10332720" y="4206240"/>
            <a:ext cx="3108960" cy="310896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1614625874" name="Shape 2"/>
          <p:cNvSpPr/>
          <p:nvPr/>
        </p:nvSpPr>
        <p:spPr bwMode="auto">
          <a:xfrm>
            <a:off x="1033272" y="1110996"/>
            <a:ext cx="932688" cy="365760"/>
          </a:xfrm>
          <a:prstGeom prst="line">
            <a:avLst/>
          </a:prstGeom>
          <a:noFill/>
          <a:ln w="19050">
            <a:solidFill>
              <a:srgbClr val="6FA8C9">
                <a:alpha val="70000"/>
              </a:srgbClr>
            </a:solidFill>
            <a:prstDash val="solid"/>
          </a:ln>
        </p:spPr>
      </p:sp>
      <p:sp>
        <p:nvSpPr>
          <p:cNvPr id="1025396113" name="Shape 3"/>
          <p:cNvSpPr/>
          <p:nvPr/>
        </p:nvSpPr>
        <p:spPr bwMode="auto">
          <a:xfrm>
            <a:off x="1033272" y="1476756"/>
            <a:ext cx="932688" cy="0"/>
          </a:xfrm>
          <a:prstGeom prst="line">
            <a:avLst/>
          </a:prstGeom>
          <a:noFill/>
          <a:ln w="19050">
            <a:solidFill>
              <a:srgbClr val="6FA8C9">
                <a:alpha val="70000"/>
              </a:srgbClr>
            </a:solidFill>
            <a:prstDash val="solid"/>
          </a:ln>
        </p:spPr>
      </p:sp>
      <p:sp>
        <p:nvSpPr>
          <p:cNvPr id="1289274370" name="Shape 4"/>
          <p:cNvSpPr/>
          <p:nvPr/>
        </p:nvSpPr>
        <p:spPr bwMode="auto">
          <a:xfrm>
            <a:off x="1033272" y="1842516"/>
            <a:ext cx="932688" cy="0"/>
          </a:xfrm>
          <a:prstGeom prst="line">
            <a:avLst/>
          </a:prstGeom>
          <a:noFill/>
          <a:ln w="19050">
            <a:solidFill>
              <a:srgbClr val="6FA8C9">
                <a:alpha val="70000"/>
              </a:srgbClr>
            </a:solidFill>
            <a:prstDash val="solid"/>
          </a:ln>
        </p:spPr>
      </p:sp>
      <p:sp>
        <p:nvSpPr>
          <p:cNvPr id="1417166576" name="Shape 5"/>
          <p:cNvSpPr/>
          <p:nvPr/>
        </p:nvSpPr>
        <p:spPr bwMode="auto">
          <a:xfrm>
            <a:off x="914400" y="1051560"/>
            <a:ext cx="118872" cy="118872"/>
          </a:xfrm>
          <a:prstGeom prst="ellipse">
            <a:avLst/>
          </a:prstGeom>
          <a:solidFill>
            <a:srgbClr val="6FA8C9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805095980" name="Shape 6"/>
          <p:cNvSpPr/>
          <p:nvPr/>
        </p:nvSpPr>
        <p:spPr bwMode="auto">
          <a:xfrm>
            <a:off x="914400" y="1417320"/>
            <a:ext cx="118872" cy="118872"/>
          </a:xfrm>
          <a:prstGeom prst="ellipse">
            <a:avLst/>
          </a:prstGeom>
          <a:solidFill>
            <a:srgbClr val="6FA8C9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084616127" name="Shape 7"/>
          <p:cNvSpPr/>
          <p:nvPr/>
        </p:nvSpPr>
        <p:spPr bwMode="auto">
          <a:xfrm>
            <a:off x="914400" y="1783080"/>
            <a:ext cx="118872" cy="118872"/>
          </a:xfrm>
          <a:prstGeom prst="ellipse">
            <a:avLst/>
          </a:prstGeom>
          <a:solidFill>
            <a:srgbClr val="6FA8C9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619097785" name="Shape 8"/>
          <p:cNvSpPr/>
          <p:nvPr/>
        </p:nvSpPr>
        <p:spPr bwMode="auto">
          <a:xfrm>
            <a:off x="1965960" y="1335024"/>
            <a:ext cx="164592" cy="164592"/>
          </a:xfrm>
          <a:prstGeom prst="ellipse">
            <a:avLst/>
          </a:prstGeom>
          <a:solidFill>
            <a:srgbClr val="F2A65A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273041256" name="Text 9"/>
          <p:cNvSpPr txBox="1"/>
          <p:nvPr/>
        </p:nvSpPr>
        <p:spPr bwMode="auto">
          <a:xfrm>
            <a:off x="822960" y="26517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ENSEMBLE LEARNING</a:t>
            </a:r>
            <a:endParaRPr lang="en-US" sz="4800"/>
          </a:p>
        </p:txBody>
      </p:sp>
      <p:sp>
        <p:nvSpPr>
          <p:cNvPr id="419682365" name="Text 10"/>
          <p:cNvSpPr txBox="1"/>
          <p:nvPr/>
        </p:nvSpPr>
        <p:spPr bwMode="auto">
          <a:xfrm>
            <a:off x="82296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i="1">
                <a:solidFill>
                  <a:srgbClr val="B9CEE0"/>
                </a:solidFill>
                <a:latin typeface="Calibri"/>
                <a:ea typeface="Calibri"/>
                <a:cs typeface="Calibri"/>
              </a:rPr>
              <a:t>Combining multiple models to make stronger, more reliable predictions</a:t>
            </a:r>
            <a:endParaRPr lang="en-US" sz="1800"/>
          </a:p>
        </p:txBody>
      </p:sp>
      <p:sp>
        <p:nvSpPr>
          <p:cNvPr id="585729928" name="Text 11"/>
          <p:cNvSpPr txBox="1"/>
          <p:nvPr/>
        </p:nvSpPr>
        <p:spPr bwMode="auto">
          <a:xfrm>
            <a:off x="82296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MACHINE LEARNING  •  MODEL STRATEGY</a:t>
            </a:r>
            <a:endParaRPr lang="en-US" sz="1100"/>
          </a:p>
        </p:txBody>
      </p:sp>
      <p:sp>
        <p:nvSpPr>
          <p:cNvPr id="1800681614" name="Shape 12"/>
          <p:cNvSpPr/>
          <p:nvPr/>
        </p:nvSpPr>
        <p:spPr bwMode="auto">
          <a:xfrm>
            <a:off x="822960" y="5212080"/>
            <a:ext cx="502920" cy="0"/>
          </a:xfrm>
          <a:prstGeom prst="line">
            <a:avLst/>
          </a:prstGeom>
          <a:noFill/>
          <a:ln w="31750">
            <a:solidFill>
              <a:srgbClr val="F2A65A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497641" name="Text 0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DEFINITION</a:t>
            </a:r>
            <a:endParaRPr lang="en-US" sz="1200"/>
          </a:p>
        </p:txBody>
      </p:sp>
      <p:sp>
        <p:nvSpPr>
          <p:cNvPr id="1851478283" name="Text 1"/>
          <p:cNvSpPr txBox="1"/>
          <p:nvPr/>
        </p:nvSpPr>
        <p:spPr bwMode="auto"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What Is Ensemble Learning?</a:t>
            </a:r>
            <a:endParaRPr lang="en-US" sz="3400"/>
          </a:p>
        </p:txBody>
      </p:sp>
      <p:sp>
        <p:nvSpPr>
          <p:cNvPr id="524404401" name="Text 2"/>
          <p:cNvSpPr txBox="1"/>
          <p:nvPr/>
        </p:nvSpPr>
        <p:spPr bwMode="auto">
          <a:xfrm>
            <a:off x="548640" y="1508759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 technique that trains </a:t>
            </a:r>
            <a:r>
              <a:rPr lang="en-US" sz="16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multiple models</a:t>
            </a:r>
            <a:r>
              <a:rPr lang="en-US" sz="16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 (“base learners”) on the same problem and </a:t>
            </a:r>
            <a:r>
              <a:rPr lang="en-US" sz="16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combines their predictions</a:t>
            </a:r>
            <a:r>
              <a:rPr lang="en-US" sz="16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 — by </a:t>
            </a:r>
            <a:r>
              <a:rPr lang="en-US" sz="160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voting, averaging, or a learned combiner</a:t>
            </a:r>
            <a:r>
              <a:rPr lang="en-US" sz="16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 — into a single, stronger final prediction.</a:t>
            </a:r>
            <a:endParaRPr lang="en-US" sz="1600"/>
          </a:p>
        </p:txBody>
      </p:sp>
      <p:sp>
        <p:nvSpPr>
          <p:cNvPr id="1795290966" name="Text 3"/>
          <p:cNvSpPr txBox="1"/>
          <p:nvPr/>
        </p:nvSpPr>
        <p:spPr bwMode="auto">
          <a:xfrm>
            <a:off x="548640" y="32004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5C7A8A"/>
                </a:solidFill>
                <a:latin typeface="Calibri"/>
                <a:ea typeface="Calibri"/>
                <a:cs typeface="Calibri"/>
              </a:rPr>
              <a:t>No single model is asked to be perfect — each one only needs to be decent, and different from the others.</a:t>
            </a:r>
            <a:endParaRPr lang="en-US" sz="1300"/>
          </a:p>
        </p:txBody>
      </p:sp>
      <p:sp>
        <p:nvSpPr>
          <p:cNvPr id="110494604" name="Text 4"/>
          <p:cNvSpPr txBox="1"/>
          <p:nvPr/>
        </p:nvSpPr>
        <p:spPr bwMode="auto">
          <a:xfrm>
            <a:off x="548640" y="4160519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Three ways to combine predictions</a:t>
            </a:r>
            <a:endParaRPr lang="en-US" sz="1300"/>
          </a:p>
        </p:txBody>
      </p:sp>
      <p:sp>
        <p:nvSpPr>
          <p:cNvPr id="1384927059" name="Shape 5"/>
          <p:cNvSpPr/>
          <p:nvPr/>
        </p:nvSpPr>
        <p:spPr bwMode="auto">
          <a:xfrm>
            <a:off x="548640" y="4771643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3412445" name="Text 6"/>
          <p:cNvSpPr txBox="1"/>
          <p:nvPr/>
        </p:nvSpPr>
        <p:spPr bwMode="auto">
          <a:xfrm>
            <a:off x="777240" y="4643627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6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Voting:  </a:t>
            </a:r>
            <a:r>
              <a:rPr lang="en-US" sz="16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Each model casts a class label; the majority wins (classification).</a:t>
            </a:r>
            <a:endParaRPr sz="1600"/>
          </a:p>
        </p:txBody>
      </p:sp>
      <p:sp>
        <p:nvSpPr>
          <p:cNvPr id="839820249" name="Shape 7"/>
          <p:cNvSpPr/>
          <p:nvPr/>
        </p:nvSpPr>
        <p:spPr bwMode="auto">
          <a:xfrm>
            <a:off x="548640" y="5419343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29213514" name="Text 8"/>
          <p:cNvSpPr txBox="1"/>
          <p:nvPr/>
        </p:nvSpPr>
        <p:spPr bwMode="auto">
          <a:xfrm>
            <a:off x="777240" y="5291327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6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Averaging:  </a:t>
            </a:r>
            <a:r>
              <a:rPr lang="en-US" sz="16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Predictions are averaged, often weighted by each model's accuracy (regression).</a:t>
            </a:r>
            <a:endParaRPr sz="1600"/>
          </a:p>
        </p:txBody>
      </p:sp>
      <p:sp>
        <p:nvSpPr>
          <p:cNvPr id="300107390" name="Shape 9"/>
          <p:cNvSpPr/>
          <p:nvPr/>
        </p:nvSpPr>
        <p:spPr bwMode="auto">
          <a:xfrm>
            <a:off x="548640" y="606704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6420150" name="Text 10"/>
          <p:cNvSpPr txBox="1"/>
          <p:nvPr/>
        </p:nvSpPr>
        <p:spPr bwMode="auto">
          <a:xfrm>
            <a:off x="777240" y="59390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6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Learned combiner:  </a:t>
            </a:r>
            <a:r>
              <a:rPr lang="en-US" sz="16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 meta-model studies the base predictions and learns how to blend them (stacking).</a:t>
            </a:r>
            <a:endParaRPr sz="1600"/>
          </a:p>
        </p:txBody>
      </p:sp>
      <p:sp>
        <p:nvSpPr>
          <p:cNvPr id="294809547" name="Shape 11"/>
          <p:cNvSpPr/>
          <p:nvPr/>
        </p:nvSpPr>
        <p:spPr bwMode="auto">
          <a:xfrm>
            <a:off x="7223760" y="1417320"/>
            <a:ext cx="4480560" cy="3977640"/>
          </a:xfrm>
          <a:prstGeom prst="roundRect">
            <a:avLst>
              <a:gd name="adj" fmla="val 2759"/>
            </a:avLst>
          </a:prstGeom>
          <a:solidFill>
            <a:srgbClr val="EAF3F8"/>
          </a:solidFill>
          <a:ln/>
        </p:spPr>
      </p:sp>
      <p:sp>
        <p:nvSpPr>
          <p:cNvPr id="498788400" name="Shape 12"/>
          <p:cNvSpPr/>
          <p:nvPr/>
        </p:nvSpPr>
        <p:spPr bwMode="auto">
          <a:xfrm>
            <a:off x="7543800" y="17373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844304547" name="Text 13"/>
          <p:cNvSpPr txBox="1"/>
          <p:nvPr/>
        </p:nvSpPr>
        <p:spPr bwMode="auto">
          <a:xfrm>
            <a:off x="7543800" y="1737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Model A</a:t>
            </a:r>
            <a:endParaRPr lang="en-US" sz="1200"/>
          </a:p>
        </p:txBody>
      </p:sp>
      <p:sp>
        <p:nvSpPr>
          <p:cNvPr id="366385761" name="Shape 14"/>
          <p:cNvSpPr/>
          <p:nvPr/>
        </p:nvSpPr>
        <p:spPr bwMode="auto">
          <a:xfrm>
            <a:off x="9098280" y="1988820"/>
            <a:ext cx="960120" cy="6858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544461697" name="Shape 15"/>
          <p:cNvSpPr/>
          <p:nvPr/>
        </p:nvSpPr>
        <p:spPr bwMode="auto">
          <a:xfrm>
            <a:off x="7543800" y="24231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506878910" name="Text 16"/>
          <p:cNvSpPr txBox="1"/>
          <p:nvPr/>
        </p:nvSpPr>
        <p:spPr bwMode="auto">
          <a:xfrm>
            <a:off x="7543800" y="2423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Model B</a:t>
            </a:r>
            <a:endParaRPr lang="en-US" sz="1200"/>
          </a:p>
        </p:txBody>
      </p:sp>
      <p:sp>
        <p:nvSpPr>
          <p:cNvPr id="796035378" name="Shape 17"/>
          <p:cNvSpPr/>
          <p:nvPr/>
        </p:nvSpPr>
        <p:spPr bwMode="auto">
          <a:xfrm>
            <a:off x="9098280" y="2674620"/>
            <a:ext cx="9601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268492330" name="Shape 18"/>
          <p:cNvSpPr/>
          <p:nvPr/>
        </p:nvSpPr>
        <p:spPr bwMode="auto">
          <a:xfrm>
            <a:off x="7543800" y="31089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207557295" name="Text 19"/>
          <p:cNvSpPr txBox="1"/>
          <p:nvPr/>
        </p:nvSpPr>
        <p:spPr bwMode="auto">
          <a:xfrm>
            <a:off x="7543800" y="3108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Model C</a:t>
            </a:r>
            <a:endParaRPr lang="en-US" sz="1200"/>
          </a:p>
        </p:txBody>
      </p:sp>
      <p:sp>
        <p:nvSpPr>
          <p:cNvPr id="599141657" name="Shape 20"/>
          <p:cNvSpPr/>
          <p:nvPr/>
        </p:nvSpPr>
        <p:spPr bwMode="auto">
          <a:xfrm flipH="0" flipV="1">
            <a:off x="9098279" y="2606039"/>
            <a:ext cx="1051560" cy="754379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547284771" name="Shape 21"/>
          <p:cNvSpPr/>
          <p:nvPr/>
        </p:nvSpPr>
        <p:spPr bwMode="auto">
          <a:xfrm>
            <a:off x="10058400" y="217170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74342467" name="Text 22"/>
          <p:cNvSpPr txBox="1"/>
          <p:nvPr/>
        </p:nvSpPr>
        <p:spPr bwMode="auto">
          <a:xfrm>
            <a:off x="10058400" y="21717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Σ</a:t>
            </a:r>
            <a:endParaRPr lang="en-US" sz="2200"/>
          </a:p>
        </p:txBody>
      </p:sp>
      <p:sp>
        <p:nvSpPr>
          <p:cNvPr id="558042422" name="Shape 23"/>
          <p:cNvSpPr/>
          <p:nvPr/>
        </p:nvSpPr>
        <p:spPr bwMode="auto">
          <a:xfrm>
            <a:off x="10492740" y="3040380"/>
            <a:ext cx="0" cy="6172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15823373" name="Shape 24"/>
          <p:cNvSpPr/>
          <p:nvPr/>
        </p:nvSpPr>
        <p:spPr bwMode="auto">
          <a:xfrm>
            <a:off x="8275320" y="365760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F2A65A"/>
          </a:solidFill>
          <a:ln/>
        </p:spPr>
      </p:sp>
      <p:sp>
        <p:nvSpPr>
          <p:cNvPr id="626349394" name="Text 25"/>
          <p:cNvSpPr txBox="1"/>
          <p:nvPr/>
        </p:nvSpPr>
        <p:spPr bwMode="auto">
          <a:xfrm>
            <a:off x="827532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Final Prediction</a:t>
            </a:r>
            <a:endParaRPr lang="en-US" sz="1300"/>
          </a:p>
        </p:txBody>
      </p:sp>
      <p:sp>
        <p:nvSpPr>
          <p:cNvPr id="1982977744" name="Text 26"/>
          <p:cNvSpPr txBox="1"/>
          <p:nvPr/>
        </p:nvSpPr>
        <p:spPr bwMode="auto"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C7A8A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491164" name="Text 0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 MOTIVATION</a:t>
            </a:r>
            <a:endParaRPr lang="en-US" sz="1200"/>
          </a:p>
        </p:txBody>
      </p:sp>
      <p:sp>
        <p:nvSpPr>
          <p:cNvPr id="1945462743" name="Text 1"/>
          <p:cNvSpPr txBox="1"/>
          <p:nvPr/>
        </p:nvSpPr>
        <p:spPr bwMode="auto"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Why Ensemble Is Required</a:t>
            </a:r>
            <a:endParaRPr lang="en-US" sz="3400"/>
          </a:p>
        </p:txBody>
      </p:sp>
      <p:sp>
        <p:nvSpPr>
          <p:cNvPr id="1118533537" name="Text 2"/>
          <p:cNvSpPr txBox="1"/>
          <p:nvPr/>
        </p:nvSpPr>
        <p:spPr bwMode="auto"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C7A8A"/>
                </a:solidFill>
                <a:latin typeface="Calibri"/>
                <a:ea typeface="Calibri"/>
                <a:cs typeface="Calibri"/>
              </a:rPr>
              <a:t>Any single model sits somewhere on the bias–variance trade-off. Ensembles let you address both sides at once.</a:t>
            </a:r>
            <a:endParaRPr lang="en-US" sz="1400"/>
          </a:p>
        </p:txBody>
      </p:sp>
      <p:sp>
        <p:nvSpPr>
          <p:cNvPr id="1294391313" name="Shape 3"/>
          <p:cNvSpPr/>
          <p:nvPr/>
        </p:nvSpPr>
        <p:spPr bwMode="auto">
          <a:xfrm>
            <a:off x="548640" y="214884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EAF3F8"/>
          </a:solidFill>
          <a:ln/>
        </p:spPr>
      </p:sp>
      <p:sp>
        <p:nvSpPr>
          <p:cNvPr id="1254630372" name="Shape 4"/>
          <p:cNvSpPr/>
          <p:nvPr/>
        </p:nvSpPr>
        <p:spPr bwMode="auto">
          <a:xfrm>
            <a:off x="777240" y="2423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09034994" name="Text 5"/>
          <p:cNvSpPr txBox="1"/>
          <p:nvPr/>
        </p:nvSpPr>
        <p:spPr bwMode="auto">
          <a:xfrm>
            <a:off x="7772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600"/>
          </a:p>
        </p:txBody>
      </p:sp>
      <p:sp>
        <p:nvSpPr>
          <p:cNvPr id="1448912866" name="Text 6"/>
          <p:cNvSpPr txBox="1"/>
          <p:nvPr/>
        </p:nvSpPr>
        <p:spPr bwMode="auto">
          <a:xfrm>
            <a:off x="777240" y="31089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Small variance, high bias (Underfitting)</a:t>
            </a:r>
            <a:endParaRPr lang="en-US" sz="1400"/>
          </a:p>
        </p:txBody>
      </p:sp>
      <p:sp>
        <p:nvSpPr>
          <p:cNvPr id="1957171902" name="Text 7"/>
          <p:cNvSpPr txBox="1"/>
          <p:nvPr/>
        </p:nvSpPr>
        <p:spPr bwMode="auto">
          <a:xfrm>
            <a:off x="777240" y="3840480"/>
            <a:ext cx="2084832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 simple model can be too rigid to capture real patterns in the data.</a:t>
            </a:r>
            <a:endParaRPr sz="1400"/>
          </a:p>
        </p:txBody>
      </p:sp>
      <p:sp>
        <p:nvSpPr>
          <p:cNvPr id="1020980496" name="Shape 8"/>
          <p:cNvSpPr/>
          <p:nvPr/>
        </p:nvSpPr>
        <p:spPr bwMode="auto">
          <a:xfrm>
            <a:off x="3346704" y="214884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EAF3F8"/>
          </a:solidFill>
          <a:ln/>
        </p:spPr>
      </p:sp>
      <p:sp>
        <p:nvSpPr>
          <p:cNvPr id="1532658812" name="Shape 9"/>
          <p:cNvSpPr/>
          <p:nvPr/>
        </p:nvSpPr>
        <p:spPr bwMode="auto">
          <a:xfrm>
            <a:off x="3575303" y="2423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66368302" name="Text 10"/>
          <p:cNvSpPr txBox="1"/>
          <p:nvPr/>
        </p:nvSpPr>
        <p:spPr bwMode="auto">
          <a:xfrm>
            <a:off x="3575303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600"/>
          </a:p>
        </p:txBody>
      </p:sp>
      <p:sp>
        <p:nvSpPr>
          <p:cNvPr id="1920683877" name="Text 11"/>
          <p:cNvSpPr txBox="1"/>
          <p:nvPr/>
        </p:nvSpPr>
        <p:spPr bwMode="auto">
          <a:xfrm>
            <a:off x="3575303" y="31089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High variance within class (Overfitting)</a:t>
            </a:r>
            <a:endParaRPr lang="en-US" sz="1400"/>
          </a:p>
        </p:txBody>
      </p:sp>
      <p:sp>
        <p:nvSpPr>
          <p:cNvPr id="333408811" name="Text 12"/>
          <p:cNvSpPr txBox="1"/>
          <p:nvPr/>
        </p:nvSpPr>
        <p:spPr bwMode="auto">
          <a:xfrm>
            <a:off x="3575303" y="3840480"/>
            <a:ext cx="2084832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 complex model unintentionally  memorizes training noise and fails on new data.</a:t>
            </a:r>
            <a:endParaRPr sz="1400"/>
          </a:p>
        </p:txBody>
      </p:sp>
      <p:sp>
        <p:nvSpPr>
          <p:cNvPr id="1760451824" name="Shape 13"/>
          <p:cNvSpPr/>
          <p:nvPr/>
        </p:nvSpPr>
        <p:spPr bwMode="auto">
          <a:xfrm>
            <a:off x="6144768" y="214884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EAF3F8"/>
          </a:solidFill>
          <a:ln/>
        </p:spPr>
      </p:sp>
      <p:sp>
        <p:nvSpPr>
          <p:cNvPr id="1360118139" name="Shape 14"/>
          <p:cNvSpPr/>
          <p:nvPr/>
        </p:nvSpPr>
        <p:spPr bwMode="auto">
          <a:xfrm>
            <a:off x="6373368" y="2423160"/>
            <a:ext cx="502920" cy="502920"/>
          </a:xfrm>
          <a:prstGeom prst="ellipse">
            <a:avLst/>
          </a:prstGeom>
          <a:solidFill>
            <a:srgbClr val="3A7CA5"/>
          </a:solidFill>
          <a:ln/>
        </p:spPr>
      </p:sp>
      <p:sp>
        <p:nvSpPr>
          <p:cNvPr id="1172803998" name="Text 15"/>
          <p:cNvSpPr txBox="1"/>
          <p:nvPr/>
        </p:nvSpPr>
        <p:spPr bwMode="auto">
          <a:xfrm>
            <a:off x="6373368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600"/>
          </a:p>
        </p:txBody>
      </p:sp>
      <p:sp>
        <p:nvSpPr>
          <p:cNvPr id="1211731743" name="Text 16"/>
          <p:cNvSpPr txBox="1"/>
          <p:nvPr/>
        </p:nvSpPr>
        <p:spPr bwMode="auto">
          <a:xfrm>
            <a:off x="6373368" y="31089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Uncorrelated errors</a:t>
            </a:r>
            <a:endParaRPr lang="en-US" sz="1400"/>
          </a:p>
        </p:txBody>
      </p:sp>
      <p:sp>
        <p:nvSpPr>
          <p:cNvPr id="1655439796" name="Text 17"/>
          <p:cNvSpPr txBox="1"/>
          <p:nvPr/>
        </p:nvSpPr>
        <p:spPr bwMode="auto">
          <a:xfrm>
            <a:off x="6373368" y="3840480"/>
            <a:ext cx="2084832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Different models tend to make different mistakes; combined, those errors partly cancel out.</a:t>
            </a:r>
            <a:endParaRPr sz="1400"/>
          </a:p>
        </p:txBody>
      </p:sp>
      <p:sp>
        <p:nvSpPr>
          <p:cNvPr id="1686408129" name="Shape 18"/>
          <p:cNvSpPr/>
          <p:nvPr/>
        </p:nvSpPr>
        <p:spPr bwMode="auto">
          <a:xfrm>
            <a:off x="8942832" y="2148840"/>
            <a:ext cx="2542032" cy="3383280"/>
          </a:xfrm>
          <a:prstGeom prst="roundRect">
            <a:avLst>
              <a:gd name="adj" fmla="val 3597"/>
            </a:avLst>
          </a:prstGeom>
          <a:solidFill>
            <a:srgbClr val="EAF3F8"/>
          </a:solidFill>
          <a:ln/>
        </p:spPr>
      </p:sp>
      <p:sp>
        <p:nvSpPr>
          <p:cNvPr id="953876856" name="Shape 19"/>
          <p:cNvSpPr/>
          <p:nvPr/>
        </p:nvSpPr>
        <p:spPr bwMode="auto">
          <a:xfrm>
            <a:off x="9171432" y="242316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85715505" name="Text 20"/>
          <p:cNvSpPr txBox="1"/>
          <p:nvPr/>
        </p:nvSpPr>
        <p:spPr bwMode="auto">
          <a:xfrm>
            <a:off x="9171432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600"/>
          </a:p>
        </p:txBody>
      </p:sp>
      <p:sp>
        <p:nvSpPr>
          <p:cNvPr id="6004133" name="Text 21"/>
          <p:cNvSpPr txBox="1"/>
          <p:nvPr/>
        </p:nvSpPr>
        <p:spPr bwMode="auto">
          <a:xfrm>
            <a:off x="9171432" y="310896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Wisdom of the crowd</a:t>
            </a:r>
            <a:endParaRPr lang="en-US" sz="1400"/>
          </a:p>
        </p:txBody>
      </p:sp>
      <p:sp>
        <p:nvSpPr>
          <p:cNvPr id="1787521921" name="Text 22"/>
          <p:cNvSpPr txBox="1"/>
          <p:nvPr/>
        </p:nvSpPr>
        <p:spPr bwMode="auto">
          <a:xfrm>
            <a:off x="9171432" y="3840480"/>
            <a:ext cx="2084832" cy="150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 diverse group of decent predictors, combined well, consistently beats any one expert model.</a:t>
            </a:r>
            <a:endParaRPr sz="1400"/>
          </a:p>
        </p:txBody>
      </p:sp>
      <p:sp>
        <p:nvSpPr>
          <p:cNvPr id="61333064" name="Text 23"/>
          <p:cNvSpPr txBox="1"/>
          <p:nvPr/>
        </p:nvSpPr>
        <p:spPr bwMode="auto"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C7A8A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21295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311536" name="Text 0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8FA6C9"/>
                </a:solidFill>
                <a:latin typeface="Calibri"/>
                <a:ea typeface="Calibri"/>
                <a:cs typeface="Calibri"/>
              </a:rPr>
              <a:t>BEFORE YOU COMMIT</a:t>
            </a:r>
            <a:endParaRPr lang="en-US" sz="1200"/>
          </a:p>
        </p:txBody>
      </p:sp>
      <p:sp>
        <p:nvSpPr>
          <p:cNvPr id="2137340055" name="Text 1"/>
          <p:cNvSpPr txBox="1"/>
          <p:nvPr/>
        </p:nvSpPr>
        <p:spPr bwMode="auto"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Factors to Weigh Before Using an Ensemble</a:t>
            </a:r>
            <a:endParaRPr lang="en-US" sz="3200"/>
          </a:p>
        </p:txBody>
      </p:sp>
      <p:sp>
        <p:nvSpPr>
          <p:cNvPr id="229294022" name="Shape 2"/>
          <p:cNvSpPr/>
          <p:nvPr/>
        </p:nvSpPr>
        <p:spPr bwMode="auto">
          <a:xfrm>
            <a:off x="548640" y="16916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065A82">
              <a:alpha val="22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60703689" name="Shape 3"/>
          <p:cNvSpPr/>
          <p:nvPr/>
        </p:nvSpPr>
        <p:spPr bwMode="auto">
          <a:xfrm>
            <a:off x="749808" y="1970532"/>
            <a:ext cx="219456" cy="21945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11725524" name="Text 4"/>
          <p:cNvSpPr txBox="1"/>
          <p:nvPr/>
        </p:nvSpPr>
        <p:spPr bwMode="auto">
          <a:xfrm>
            <a:off x="1097280" y="1764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Computational cost</a:t>
            </a:r>
            <a:endParaRPr sz="2000"/>
          </a:p>
        </p:txBody>
      </p:sp>
      <p:sp>
        <p:nvSpPr>
          <p:cNvPr id="225691405" name="Text 5"/>
          <p:cNvSpPr txBox="1"/>
          <p:nvPr/>
        </p:nvSpPr>
        <p:spPr bwMode="auto">
          <a:xfrm>
            <a:off x="1097280" y="2039112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050">
                <a:solidFill>
                  <a:srgbClr val="C7D9E5"/>
                </a:solidFill>
                <a:latin typeface="Calibri"/>
                <a:ea typeface="Calibri"/>
                <a:cs typeface="Calibri"/>
              </a:rPr>
              <a:t>Training and serving N models takes N× the time, memory, and infrastructure of a single model.</a:t>
            </a:r>
            <a:endParaRPr lang="en-US" sz="1050"/>
          </a:p>
        </p:txBody>
      </p:sp>
      <p:sp>
        <p:nvSpPr>
          <p:cNvPr id="855387146" name="Shape 6"/>
          <p:cNvSpPr/>
          <p:nvPr/>
        </p:nvSpPr>
        <p:spPr bwMode="auto">
          <a:xfrm>
            <a:off x="548640" y="26060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065A82">
              <a:alpha val="22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53741791" name="Shape 7"/>
          <p:cNvSpPr/>
          <p:nvPr/>
        </p:nvSpPr>
        <p:spPr bwMode="auto">
          <a:xfrm>
            <a:off x="749808" y="2884932"/>
            <a:ext cx="219456" cy="21945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729658867" name="Text 8"/>
          <p:cNvSpPr txBox="1"/>
          <p:nvPr/>
        </p:nvSpPr>
        <p:spPr bwMode="auto">
          <a:xfrm>
            <a:off x="1097280" y="26791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Interpretability needs</a:t>
            </a:r>
            <a:endParaRPr sz="2000"/>
          </a:p>
        </p:txBody>
      </p:sp>
      <p:sp>
        <p:nvSpPr>
          <p:cNvPr id="36631745" name="Text 9"/>
          <p:cNvSpPr txBox="1"/>
          <p:nvPr/>
        </p:nvSpPr>
        <p:spPr bwMode="auto">
          <a:xfrm>
            <a:off x="1097280" y="2953512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050">
                <a:solidFill>
                  <a:srgbClr val="C7D9E5"/>
                </a:solidFill>
                <a:latin typeface="Calibri"/>
                <a:ea typeface="Calibri"/>
                <a:cs typeface="Calibri"/>
              </a:rPr>
              <a:t>A 500-tree forest or stacked model is far harder to explain than one decision tree — a problem in regulated domains like finance or healthcare.</a:t>
            </a:r>
            <a:endParaRPr lang="en-US" sz="1050"/>
          </a:p>
        </p:txBody>
      </p:sp>
      <p:sp>
        <p:nvSpPr>
          <p:cNvPr id="95802606" name="Shape 10"/>
          <p:cNvSpPr/>
          <p:nvPr/>
        </p:nvSpPr>
        <p:spPr bwMode="auto">
          <a:xfrm>
            <a:off x="548640" y="35204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065A82">
              <a:alpha val="22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69742114" name="Shape 11"/>
          <p:cNvSpPr/>
          <p:nvPr/>
        </p:nvSpPr>
        <p:spPr bwMode="auto">
          <a:xfrm>
            <a:off x="749808" y="3799332"/>
            <a:ext cx="219456" cy="21945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40435408" name="Text 12"/>
          <p:cNvSpPr txBox="1"/>
          <p:nvPr/>
        </p:nvSpPr>
        <p:spPr bwMode="auto">
          <a:xfrm>
            <a:off x="1097280" y="3593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 diversity available</a:t>
            </a:r>
            <a:endParaRPr sz="2000"/>
          </a:p>
        </p:txBody>
      </p:sp>
      <p:sp>
        <p:nvSpPr>
          <p:cNvPr id="557293289" name="Text 13"/>
          <p:cNvSpPr txBox="1"/>
          <p:nvPr/>
        </p:nvSpPr>
        <p:spPr bwMode="auto">
          <a:xfrm>
            <a:off x="1097280" y="3867911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050">
                <a:solidFill>
                  <a:srgbClr val="C7D9E5"/>
                </a:solidFill>
                <a:latin typeface="Calibri"/>
                <a:ea typeface="Calibri"/>
                <a:cs typeface="Calibri"/>
              </a:rPr>
              <a:t>Ensembling only helps if the base models actually make different errors; near-identical models add cost without benefit.</a:t>
            </a:r>
            <a:endParaRPr lang="en-US" sz="1050"/>
          </a:p>
        </p:txBody>
      </p:sp>
      <p:sp>
        <p:nvSpPr>
          <p:cNvPr id="1338695604" name="Shape 14"/>
          <p:cNvSpPr/>
          <p:nvPr/>
        </p:nvSpPr>
        <p:spPr bwMode="auto">
          <a:xfrm>
            <a:off x="6217920" y="16916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065A82">
              <a:alpha val="22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53589413" name="Shape 15"/>
          <p:cNvSpPr/>
          <p:nvPr/>
        </p:nvSpPr>
        <p:spPr bwMode="auto">
          <a:xfrm>
            <a:off x="6419088" y="1970532"/>
            <a:ext cx="219456" cy="21945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372049806" name="Text 16"/>
          <p:cNvSpPr txBox="1"/>
          <p:nvPr/>
        </p:nvSpPr>
        <p:spPr bwMode="auto">
          <a:xfrm>
            <a:off x="6766560" y="1764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Marginal accuracy gain vs. effort</a:t>
            </a:r>
            <a:endParaRPr sz="2000"/>
          </a:p>
        </p:txBody>
      </p:sp>
      <p:sp>
        <p:nvSpPr>
          <p:cNvPr id="1933286761" name="Text 17"/>
          <p:cNvSpPr txBox="1"/>
          <p:nvPr/>
        </p:nvSpPr>
        <p:spPr bwMode="auto">
          <a:xfrm>
            <a:off x="6766560" y="2039112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050">
                <a:solidFill>
                  <a:srgbClr val="C7D9E5"/>
                </a:solidFill>
                <a:latin typeface="Calibri"/>
                <a:ea typeface="Calibri"/>
                <a:cs typeface="Calibri"/>
              </a:rPr>
              <a:t>Netflix famously shipped 2 of the 107 models in its Prize-winning ensemble — the rest weren't worth the engineering cost.</a:t>
            </a:r>
            <a:endParaRPr lang="en-US" sz="1050"/>
          </a:p>
        </p:txBody>
      </p:sp>
      <p:sp>
        <p:nvSpPr>
          <p:cNvPr id="2119549200" name="Shape 18"/>
          <p:cNvSpPr/>
          <p:nvPr/>
        </p:nvSpPr>
        <p:spPr bwMode="auto">
          <a:xfrm>
            <a:off x="6217920" y="26060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065A82">
              <a:alpha val="22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9971826" name="Shape 19"/>
          <p:cNvSpPr/>
          <p:nvPr/>
        </p:nvSpPr>
        <p:spPr bwMode="auto">
          <a:xfrm>
            <a:off x="6419088" y="2884932"/>
            <a:ext cx="219456" cy="21945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966254963" name="Text 20"/>
          <p:cNvSpPr txBox="1"/>
          <p:nvPr/>
        </p:nvSpPr>
        <p:spPr bwMode="auto">
          <a:xfrm>
            <a:off x="6766560" y="26791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Risk of noisy/mislabeled data</a:t>
            </a:r>
            <a:endParaRPr sz="2000"/>
          </a:p>
        </p:txBody>
      </p:sp>
      <p:sp>
        <p:nvSpPr>
          <p:cNvPr id="148968266" name="Text 21"/>
          <p:cNvSpPr txBox="1"/>
          <p:nvPr/>
        </p:nvSpPr>
        <p:spPr bwMode="auto">
          <a:xfrm>
            <a:off x="6766560" y="2953512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050">
                <a:solidFill>
                  <a:srgbClr val="C7D9E5"/>
                </a:solidFill>
                <a:latin typeface="Calibri"/>
                <a:ea typeface="Calibri"/>
                <a:cs typeface="Calibri"/>
              </a:rPr>
              <a:t>Boosting in particular keeps re-weighting hard examples, so it can overfit to label noise if left untuned.</a:t>
            </a:r>
            <a:endParaRPr lang="en-US" sz="1050"/>
          </a:p>
        </p:txBody>
      </p:sp>
      <p:sp>
        <p:nvSpPr>
          <p:cNvPr id="1550401639" name="Shape 22"/>
          <p:cNvSpPr/>
          <p:nvPr/>
        </p:nvSpPr>
        <p:spPr bwMode="auto">
          <a:xfrm>
            <a:off x="6217920" y="3520440"/>
            <a:ext cx="5349240" cy="777240"/>
          </a:xfrm>
          <a:prstGeom prst="roundRect">
            <a:avLst>
              <a:gd name="adj" fmla="val 9412"/>
            </a:avLst>
          </a:prstGeom>
          <a:solidFill>
            <a:srgbClr val="065A82">
              <a:alpha val="22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54151792" name="Shape 23"/>
          <p:cNvSpPr/>
          <p:nvPr/>
        </p:nvSpPr>
        <p:spPr bwMode="auto">
          <a:xfrm>
            <a:off x="6419088" y="3799332"/>
            <a:ext cx="219456" cy="219456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48992566" name="Text 24"/>
          <p:cNvSpPr txBox="1"/>
          <p:nvPr/>
        </p:nvSpPr>
        <p:spPr bwMode="auto">
          <a:xfrm>
            <a:off x="6766560" y="3593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Latency &amp; deployment constraints</a:t>
            </a:r>
            <a:endParaRPr sz="2000"/>
          </a:p>
        </p:txBody>
      </p:sp>
      <p:sp>
        <p:nvSpPr>
          <p:cNvPr id="1332577674" name="Text 25"/>
          <p:cNvSpPr txBox="1"/>
          <p:nvPr/>
        </p:nvSpPr>
        <p:spPr bwMode="auto">
          <a:xfrm>
            <a:off x="6766560" y="3867911"/>
            <a:ext cx="4572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050">
                <a:solidFill>
                  <a:srgbClr val="C7D9E5"/>
                </a:solidFill>
                <a:latin typeface="Calibri"/>
                <a:ea typeface="Calibri"/>
                <a:cs typeface="Calibri"/>
              </a:rPr>
              <a:t>Real-time systems may not tolerate the extra inference time multiple models add.</a:t>
            </a:r>
            <a:endParaRPr lang="en-US" sz="1050"/>
          </a:p>
        </p:txBody>
      </p:sp>
      <p:sp>
        <p:nvSpPr>
          <p:cNvPr id="276935293" name="Text 26"/>
          <p:cNvSpPr txBox="1"/>
          <p:nvPr/>
        </p:nvSpPr>
        <p:spPr bwMode="auto"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8FA6C9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522112" name="Text 0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METHOD</a:t>
            </a:r>
            <a:endParaRPr lang="en-US" sz="1200"/>
          </a:p>
        </p:txBody>
      </p:sp>
      <p:sp>
        <p:nvSpPr>
          <p:cNvPr id="590904110" name="Text 1"/>
          <p:cNvSpPr txBox="1"/>
          <p:nvPr/>
        </p:nvSpPr>
        <p:spPr bwMode="auto"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How to Ensemble: Three Core Strategies</a:t>
            </a:r>
            <a:endParaRPr lang="en-US" sz="3200"/>
          </a:p>
        </p:txBody>
      </p:sp>
      <p:sp>
        <p:nvSpPr>
          <p:cNvPr id="1340291278" name="Shape 2"/>
          <p:cNvSpPr/>
          <p:nvPr/>
        </p:nvSpPr>
        <p:spPr bwMode="auto">
          <a:xfrm>
            <a:off x="548640" y="1600200"/>
            <a:ext cx="3520440" cy="4160519"/>
          </a:xfrm>
          <a:prstGeom prst="roundRect">
            <a:avLst>
              <a:gd name="adj" fmla="val 2597"/>
            </a:avLst>
          </a:prstGeom>
          <a:solidFill>
            <a:srgbClr val="EAF3F8"/>
          </a:solidFill>
          <a:ln/>
        </p:spPr>
      </p:sp>
      <p:sp>
        <p:nvSpPr>
          <p:cNvPr id="1408123650" name="Shape 3"/>
          <p:cNvSpPr/>
          <p:nvPr/>
        </p:nvSpPr>
        <p:spPr bwMode="auto">
          <a:xfrm>
            <a:off x="548640" y="1600200"/>
            <a:ext cx="3520440" cy="822960"/>
          </a:xfrm>
          <a:prstGeom prst="roundRect">
            <a:avLst>
              <a:gd name="adj" fmla="val 11111"/>
            </a:avLst>
          </a:prstGeom>
          <a:solidFill>
            <a:srgbClr val="065A82"/>
          </a:solidFill>
          <a:ln/>
        </p:spPr>
      </p:sp>
      <p:sp>
        <p:nvSpPr>
          <p:cNvPr id="54898004" name="Shape 4"/>
          <p:cNvSpPr/>
          <p:nvPr/>
        </p:nvSpPr>
        <p:spPr bwMode="auto">
          <a:xfrm>
            <a:off x="548640" y="2103120"/>
            <a:ext cx="352044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9825228" name="Text 5"/>
          <p:cNvSpPr txBox="1"/>
          <p:nvPr/>
        </p:nvSpPr>
        <p:spPr bwMode="auto">
          <a:xfrm>
            <a:off x="777240" y="1691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Bagging</a:t>
            </a:r>
            <a:endParaRPr lang="en-US" sz="1900"/>
          </a:p>
        </p:txBody>
      </p:sp>
      <p:sp>
        <p:nvSpPr>
          <p:cNvPr id="544096147" name="Text 6"/>
          <p:cNvSpPr txBox="1"/>
          <p:nvPr/>
        </p:nvSpPr>
        <p:spPr bwMode="auto">
          <a:xfrm>
            <a:off x="777240" y="20756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E4EEF3"/>
                </a:solidFill>
                <a:latin typeface="Calibri"/>
                <a:ea typeface="Calibri"/>
                <a:cs typeface="Calibri"/>
              </a:rPr>
              <a:t>Bootstrap Aggregating — parallel</a:t>
            </a:r>
            <a:endParaRPr lang="en-US" sz="1050"/>
          </a:p>
        </p:txBody>
      </p:sp>
      <p:sp>
        <p:nvSpPr>
          <p:cNvPr id="1459512201" name="Text 7"/>
          <p:cNvSpPr txBox="1"/>
          <p:nvPr/>
        </p:nvSpPr>
        <p:spPr bwMode="auto">
          <a:xfrm>
            <a:off x="3154680" y="2606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26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01</a:t>
            </a:r>
            <a:endParaRPr lang="en-US" sz="2600"/>
          </a:p>
        </p:txBody>
      </p:sp>
      <p:sp>
        <p:nvSpPr>
          <p:cNvPr id="1166570395" name="Text 8"/>
          <p:cNvSpPr txBox="1"/>
          <p:nvPr/>
        </p:nvSpPr>
        <p:spPr bwMode="auto">
          <a:xfrm>
            <a:off x="804672" y="3200400"/>
            <a:ext cx="3008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Train models independently on random bootstrap samples of the data, then average (regression) or vote (classification). Reduces variance.</a:t>
            </a:r>
            <a:endParaRPr sz="1600"/>
          </a:p>
        </p:txBody>
      </p:sp>
      <p:sp>
        <p:nvSpPr>
          <p:cNvPr id="2031412140" name="Shape 9"/>
          <p:cNvSpPr/>
          <p:nvPr/>
        </p:nvSpPr>
        <p:spPr bwMode="auto">
          <a:xfrm>
            <a:off x="804672" y="5257800"/>
            <a:ext cx="3008376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dash"/>
          </a:ln>
        </p:spPr>
      </p:sp>
      <p:sp>
        <p:nvSpPr>
          <p:cNvPr id="1173253021" name="Text 10"/>
          <p:cNvSpPr txBox="1"/>
          <p:nvPr/>
        </p:nvSpPr>
        <p:spPr bwMode="auto">
          <a:xfrm>
            <a:off x="804672" y="53218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Best for: unstable, high-variance models</a:t>
            </a:r>
            <a:endParaRPr lang="en-US" sz="1000"/>
          </a:p>
        </p:txBody>
      </p:sp>
      <p:sp>
        <p:nvSpPr>
          <p:cNvPr id="1153325507" name="Shape 11"/>
          <p:cNvSpPr/>
          <p:nvPr/>
        </p:nvSpPr>
        <p:spPr bwMode="auto">
          <a:xfrm>
            <a:off x="4325112" y="1600200"/>
            <a:ext cx="3520440" cy="4160519"/>
          </a:xfrm>
          <a:prstGeom prst="roundRect">
            <a:avLst>
              <a:gd name="adj" fmla="val 2597"/>
            </a:avLst>
          </a:prstGeom>
          <a:solidFill>
            <a:srgbClr val="EAF3F8"/>
          </a:solidFill>
          <a:ln/>
        </p:spPr>
      </p:sp>
      <p:sp>
        <p:nvSpPr>
          <p:cNvPr id="1940490553" name="Shape 12"/>
          <p:cNvSpPr/>
          <p:nvPr/>
        </p:nvSpPr>
        <p:spPr bwMode="auto">
          <a:xfrm>
            <a:off x="4325112" y="1600200"/>
            <a:ext cx="3520440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820728534" name="Shape 13"/>
          <p:cNvSpPr/>
          <p:nvPr/>
        </p:nvSpPr>
        <p:spPr bwMode="auto">
          <a:xfrm>
            <a:off x="4325112" y="2103120"/>
            <a:ext cx="35204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12473013" name="Text 14"/>
          <p:cNvSpPr txBox="1"/>
          <p:nvPr/>
        </p:nvSpPr>
        <p:spPr bwMode="auto">
          <a:xfrm>
            <a:off x="4553712" y="1691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Boosting</a:t>
            </a:r>
            <a:endParaRPr lang="en-US" sz="1900"/>
          </a:p>
        </p:txBody>
      </p:sp>
      <p:sp>
        <p:nvSpPr>
          <p:cNvPr id="615286158" name="Text 15"/>
          <p:cNvSpPr txBox="1"/>
          <p:nvPr/>
        </p:nvSpPr>
        <p:spPr bwMode="auto">
          <a:xfrm>
            <a:off x="4553712" y="20756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E4EEF3"/>
                </a:solidFill>
                <a:latin typeface="Calibri"/>
                <a:ea typeface="Calibri"/>
                <a:cs typeface="Calibri"/>
              </a:rPr>
              <a:t>Sequential correction</a:t>
            </a:r>
            <a:endParaRPr lang="en-US" sz="1050"/>
          </a:p>
        </p:txBody>
      </p:sp>
      <p:sp>
        <p:nvSpPr>
          <p:cNvPr id="6599614" name="Text 16"/>
          <p:cNvSpPr txBox="1"/>
          <p:nvPr/>
        </p:nvSpPr>
        <p:spPr bwMode="auto">
          <a:xfrm>
            <a:off x="6931152" y="2606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2600" b="1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02</a:t>
            </a:r>
            <a:endParaRPr lang="en-US" sz="2600"/>
          </a:p>
        </p:txBody>
      </p:sp>
      <p:sp>
        <p:nvSpPr>
          <p:cNvPr id="1143631593" name="Text 17"/>
          <p:cNvSpPr txBox="1"/>
          <p:nvPr/>
        </p:nvSpPr>
        <p:spPr bwMode="auto">
          <a:xfrm>
            <a:off x="4581144" y="3200400"/>
            <a:ext cx="3008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Train models one after another; each new model focuses on the errors of the previous ones, then combine with weighted votes. Reduces bias.</a:t>
            </a:r>
            <a:endParaRPr sz="1600"/>
          </a:p>
        </p:txBody>
      </p:sp>
      <p:sp>
        <p:nvSpPr>
          <p:cNvPr id="1504275628" name="Shape 18"/>
          <p:cNvSpPr/>
          <p:nvPr/>
        </p:nvSpPr>
        <p:spPr bwMode="auto">
          <a:xfrm>
            <a:off x="4581144" y="5257800"/>
            <a:ext cx="3008376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1946021794" name="Text 19"/>
          <p:cNvSpPr txBox="1"/>
          <p:nvPr/>
        </p:nvSpPr>
        <p:spPr bwMode="auto">
          <a:xfrm>
            <a:off x="4581144" y="53218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Best for: weak learners, structured data</a:t>
            </a:r>
            <a:endParaRPr lang="en-US" sz="1000"/>
          </a:p>
        </p:txBody>
      </p:sp>
      <p:sp>
        <p:nvSpPr>
          <p:cNvPr id="365100550" name="Shape 20"/>
          <p:cNvSpPr/>
          <p:nvPr/>
        </p:nvSpPr>
        <p:spPr bwMode="auto">
          <a:xfrm>
            <a:off x="8101584" y="1600200"/>
            <a:ext cx="3520440" cy="4160519"/>
          </a:xfrm>
          <a:prstGeom prst="roundRect">
            <a:avLst>
              <a:gd name="adj" fmla="val 2597"/>
            </a:avLst>
          </a:prstGeom>
          <a:solidFill>
            <a:srgbClr val="EAF3F8"/>
          </a:solidFill>
          <a:ln/>
        </p:spPr>
      </p:sp>
      <p:sp>
        <p:nvSpPr>
          <p:cNvPr id="759015993" name="Shape 21"/>
          <p:cNvSpPr/>
          <p:nvPr/>
        </p:nvSpPr>
        <p:spPr bwMode="auto">
          <a:xfrm>
            <a:off x="8101584" y="1600200"/>
            <a:ext cx="3520440" cy="822960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</p:sp>
      <p:sp>
        <p:nvSpPr>
          <p:cNvPr id="553476820" name="Shape 22"/>
          <p:cNvSpPr/>
          <p:nvPr/>
        </p:nvSpPr>
        <p:spPr bwMode="auto">
          <a:xfrm>
            <a:off x="8101584" y="2103120"/>
            <a:ext cx="3520440" cy="320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24361779" name="Text 23"/>
          <p:cNvSpPr txBox="1"/>
          <p:nvPr/>
        </p:nvSpPr>
        <p:spPr bwMode="auto">
          <a:xfrm>
            <a:off x="8330184" y="16916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Stacking</a:t>
            </a:r>
            <a:endParaRPr lang="en-US" sz="1900"/>
          </a:p>
        </p:txBody>
      </p:sp>
      <p:sp>
        <p:nvSpPr>
          <p:cNvPr id="669991685" name="Text 24"/>
          <p:cNvSpPr txBox="1"/>
          <p:nvPr/>
        </p:nvSpPr>
        <p:spPr bwMode="auto">
          <a:xfrm>
            <a:off x="8330184" y="20756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E4EEF3"/>
                </a:solidFill>
                <a:latin typeface="Calibri"/>
                <a:ea typeface="Calibri"/>
                <a:cs typeface="Calibri"/>
              </a:rPr>
              <a:t>Heterogeneous, meta-learned</a:t>
            </a:r>
            <a:endParaRPr lang="en-US" sz="1050"/>
          </a:p>
        </p:txBody>
      </p:sp>
      <p:sp>
        <p:nvSpPr>
          <p:cNvPr id="1001601570" name="Text 25"/>
          <p:cNvSpPr txBox="1"/>
          <p:nvPr/>
        </p:nvSpPr>
        <p:spPr bwMode="auto">
          <a:xfrm>
            <a:off x="10707624" y="26060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26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03</a:t>
            </a:r>
            <a:endParaRPr lang="en-US" sz="2600"/>
          </a:p>
        </p:txBody>
      </p:sp>
      <p:sp>
        <p:nvSpPr>
          <p:cNvPr id="1558911738" name="Text 26"/>
          <p:cNvSpPr txBox="1"/>
          <p:nvPr/>
        </p:nvSpPr>
        <p:spPr bwMode="auto">
          <a:xfrm>
            <a:off x="8357616" y="3200400"/>
            <a:ext cx="3008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6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Train several different model types, then feed their predictions as input features into a meta-learner that learns the best way to combine them.</a:t>
            </a:r>
            <a:endParaRPr sz="1600"/>
          </a:p>
        </p:txBody>
      </p:sp>
      <p:sp>
        <p:nvSpPr>
          <p:cNvPr id="881453615" name="Shape 27"/>
          <p:cNvSpPr/>
          <p:nvPr/>
        </p:nvSpPr>
        <p:spPr bwMode="auto">
          <a:xfrm>
            <a:off x="8357616" y="5257800"/>
            <a:ext cx="3008376" cy="0"/>
          </a:xfrm>
          <a:prstGeom prst="line">
            <a:avLst/>
          </a:prstGeom>
          <a:noFill/>
          <a:ln w="12700">
            <a:solidFill>
              <a:srgbClr val="21295C"/>
            </a:solidFill>
            <a:prstDash val="dash"/>
          </a:ln>
        </p:spPr>
      </p:sp>
      <p:sp>
        <p:nvSpPr>
          <p:cNvPr id="522042416" name="Text 28"/>
          <p:cNvSpPr txBox="1"/>
          <p:nvPr/>
        </p:nvSpPr>
        <p:spPr bwMode="auto">
          <a:xfrm>
            <a:off x="8357616" y="5321808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Best for: squeezing out final accuracy</a:t>
            </a:r>
            <a:endParaRPr lang="en-US" sz="1000"/>
          </a:p>
        </p:txBody>
      </p:sp>
      <p:sp>
        <p:nvSpPr>
          <p:cNvPr id="666465666" name="Text 29"/>
          <p:cNvSpPr txBox="1"/>
          <p:nvPr/>
        </p:nvSpPr>
        <p:spPr bwMode="auto"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C7A8A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329128" name="Text 0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BAGGING</a:t>
            </a:r>
            <a:endParaRPr lang="en-US" sz="1200"/>
          </a:p>
        </p:txBody>
      </p:sp>
      <p:sp>
        <p:nvSpPr>
          <p:cNvPr id="1729316989" name="Text 1"/>
          <p:cNvSpPr txBox="1"/>
          <p:nvPr/>
        </p:nvSpPr>
        <p:spPr bwMode="auto"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Bagging: Bootstrap Aggregating</a:t>
            </a:r>
            <a:endParaRPr lang="en-US" sz="3200"/>
          </a:p>
        </p:txBody>
      </p:sp>
      <p:sp>
        <p:nvSpPr>
          <p:cNvPr id="1119779191" name="Shape 2"/>
          <p:cNvSpPr/>
          <p:nvPr/>
        </p:nvSpPr>
        <p:spPr bwMode="auto">
          <a:xfrm>
            <a:off x="54864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1680151331" name="Shape 3"/>
          <p:cNvSpPr/>
          <p:nvPr/>
        </p:nvSpPr>
        <p:spPr bwMode="auto">
          <a:xfrm>
            <a:off x="77724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62509986" name="Text 4"/>
          <p:cNvSpPr txBox="1"/>
          <p:nvPr/>
        </p:nvSpPr>
        <p:spPr bwMode="auto"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500"/>
          </a:p>
        </p:txBody>
      </p:sp>
      <p:sp>
        <p:nvSpPr>
          <p:cNvPr id="45521883" name="Text 5"/>
          <p:cNvSpPr txBox="1"/>
          <p:nvPr/>
        </p:nvSpPr>
        <p:spPr bwMode="auto">
          <a:xfrm>
            <a:off x="777240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Bootstrap Sampling</a:t>
            </a:r>
            <a:endParaRPr lang="en-US" sz="1300"/>
          </a:p>
        </p:txBody>
      </p:sp>
      <p:sp>
        <p:nvSpPr>
          <p:cNvPr id="1803366777" name="Text 6"/>
          <p:cNvSpPr txBox="1"/>
          <p:nvPr/>
        </p:nvSpPr>
        <p:spPr bwMode="auto">
          <a:xfrm>
            <a:off x="77724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Draw random samples with replacement from the training data — each sample keeps ~63% unique rows.</a:t>
            </a:r>
            <a:endParaRPr lang="en-US" sz="1000"/>
          </a:p>
        </p:txBody>
      </p:sp>
      <p:sp>
        <p:nvSpPr>
          <p:cNvPr id="15217407" name="Shape 7"/>
          <p:cNvSpPr/>
          <p:nvPr/>
        </p:nvSpPr>
        <p:spPr bwMode="auto">
          <a:xfrm>
            <a:off x="3172968" y="2674620"/>
            <a:ext cx="128016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115959866" name="Shape 8"/>
          <p:cNvSpPr/>
          <p:nvPr/>
        </p:nvSpPr>
        <p:spPr bwMode="auto">
          <a:xfrm>
            <a:off x="3319272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1538476128" name="Shape 9"/>
          <p:cNvSpPr/>
          <p:nvPr/>
        </p:nvSpPr>
        <p:spPr bwMode="auto">
          <a:xfrm>
            <a:off x="3547872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33132740" name="Text 10"/>
          <p:cNvSpPr txBox="1"/>
          <p:nvPr/>
        </p:nvSpPr>
        <p:spPr bwMode="auto">
          <a:xfrm>
            <a:off x="354787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500"/>
          </a:p>
        </p:txBody>
      </p:sp>
      <p:sp>
        <p:nvSpPr>
          <p:cNvPr id="956754281" name="Text 11"/>
          <p:cNvSpPr txBox="1"/>
          <p:nvPr/>
        </p:nvSpPr>
        <p:spPr bwMode="auto">
          <a:xfrm>
            <a:off x="3547872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Train in Parallel</a:t>
            </a:r>
            <a:endParaRPr lang="en-US" sz="1300"/>
          </a:p>
        </p:txBody>
      </p:sp>
      <p:sp>
        <p:nvSpPr>
          <p:cNvPr id="1069511074" name="Text 12"/>
          <p:cNvSpPr txBox="1"/>
          <p:nvPr/>
        </p:nvSpPr>
        <p:spPr bwMode="auto">
          <a:xfrm>
            <a:off x="3547872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Fit one base learner per sample, independently and at the same time — no learner depends on another.</a:t>
            </a:r>
            <a:endParaRPr lang="en-US" sz="1000"/>
          </a:p>
        </p:txBody>
      </p:sp>
      <p:sp>
        <p:nvSpPr>
          <p:cNvPr id="693483171" name="Shape 13"/>
          <p:cNvSpPr/>
          <p:nvPr/>
        </p:nvSpPr>
        <p:spPr bwMode="auto">
          <a:xfrm>
            <a:off x="5943600" y="2674620"/>
            <a:ext cx="128016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169015751" name="Shape 14"/>
          <p:cNvSpPr/>
          <p:nvPr/>
        </p:nvSpPr>
        <p:spPr bwMode="auto">
          <a:xfrm>
            <a:off x="6089904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1887471495" name="Shape 15"/>
          <p:cNvSpPr/>
          <p:nvPr/>
        </p:nvSpPr>
        <p:spPr bwMode="auto">
          <a:xfrm>
            <a:off x="6318504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70284668" name="Text 16"/>
          <p:cNvSpPr txBox="1"/>
          <p:nvPr/>
        </p:nvSpPr>
        <p:spPr bwMode="auto">
          <a:xfrm>
            <a:off x="631850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500"/>
          </a:p>
        </p:txBody>
      </p:sp>
      <p:sp>
        <p:nvSpPr>
          <p:cNvPr id="1227411630" name="Text 17"/>
          <p:cNvSpPr txBox="1"/>
          <p:nvPr/>
        </p:nvSpPr>
        <p:spPr bwMode="auto">
          <a:xfrm>
            <a:off x="6318504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Aggregate Results</a:t>
            </a:r>
            <a:endParaRPr lang="en-US" sz="1300"/>
          </a:p>
        </p:txBody>
      </p:sp>
      <p:sp>
        <p:nvSpPr>
          <p:cNvPr id="2128752922" name="Text 18"/>
          <p:cNvSpPr txBox="1"/>
          <p:nvPr/>
        </p:nvSpPr>
        <p:spPr bwMode="auto">
          <a:xfrm>
            <a:off x="6318504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Average the predictions for regression, or take a majority vote for classification.</a:t>
            </a:r>
            <a:endParaRPr lang="en-US" sz="1000"/>
          </a:p>
        </p:txBody>
      </p:sp>
      <p:sp>
        <p:nvSpPr>
          <p:cNvPr id="1433611193" name="Shape 19"/>
          <p:cNvSpPr/>
          <p:nvPr/>
        </p:nvSpPr>
        <p:spPr bwMode="auto">
          <a:xfrm>
            <a:off x="8714232" y="2674620"/>
            <a:ext cx="128016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511076246" name="Shape 20"/>
          <p:cNvSpPr/>
          <p:nvPr/>
        </p:nvSpPr>
        <p:spPr bwMode="auto">
          <a:xfrm>
            <a:off x="8860536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176522442" name="Shape 21"/>
          <p:cNvSpPr/>
          <p:nvPr/>
        </p:nvSpPr>
        <p:spPr bwMode="auto">
          <a:xfrm>
            <a:off x="9089136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02942161" name="Text 22"/>
          <p:cNvSpPr txBox="1"/>
          <p:nvPr/>
        </p:nvSpPr>
        <p:spPr bwMode="auto">
          <a:xfrm>
            <a:off x="908913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500"/>
          </a:p>
        </p:txBody>
      </p:sp>
      <p:sp>
        <p:nvSpPr>
          <p:cNvPr id="1356458156" name="Text 23"/>
          <p:cNvSpPr txBox="1"/>
          <p:nvPr/>
        </p:nvSpPr>
        <p:spPr bwMode="auto">
          <a:xfrm>
            <a:off x="9089136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Random Forest Twist</a:t>
            </a:r>
            <a:endParaRPr lang="en-US" sz="1300"/>
          </a:p>
        </p:txBody>
      </p:sp>
      <p:sp>
        <p:nvSpPr>
          <p:cNvPr id="1261290209" name="Text 24"/>
          <p:cNvSpPr txBox="1"/>
          <p:nvPr/>
        </p:nvSpPr>
        <p:spPr bwMode="auto">
          <a:xfrm>
            <a:off x="9089136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Also randomize which features are considered at each split, decorrelating the trees even further.</a:t>
            </a:r>
            <a:endParaRPr lang="en-US" sz="1000"/>
          </a:p>
        </p:txBody>
      </p:sp>
      <p:sp>
        <p:nvSpPr>
          <p:cNvPr id="1774392045" name="Shape 25"/>
          <p:cNvSpPr/>
          <p:nvPr/>
        </p:nvSpPr>
        <p:spPr bwMode="auto">
          <a:xfrm>
            <a:off x="548640" y="3977640"/>
            <a:ext cx="3489960" cy="1417320"/>
          </a:xfrm>
          <a:prstGeom prst="roundRect">
            <a:avLst>
              <a:gd name="adj" fmla="val 6452"/>
            </a:avLst>
          </a:prstGeom>
          <a:solidFill>
            <a:srgbClr val="065A82">
              <a:alpha val="10000"/>
            </a:srgbClr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706002073" name="Text 26"/>
          <p:cNvSpPr txBox="1"/>
          <p:nvPr/>
        </p:nvSpPr>
        <p:spPr bwMode="auto">
          <a:xfrm>
            <a:off x="749808" y="414223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0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REDUCES</a:t>
            </a:r>
            <a:endParaRPr lang="en-US" sz="950"/>
          </a:p>
        </p:txBody>
      </p:sp>
      <p:sp>
        <p:nvSpPr>
          <p:cNvPr id="1919534496" name="Text 27"/>
          <p:cNvSpPr txBox="1"/>
          <p:nvPr/>
        </p:nvSpPr>
        <p:spPr bwMode="auto">
          <a:xfrm>
            <a:off x="749808" y="443484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Variance / overfitting</a:t>
            </a:r>
            <a:endParaRPr lang="en-US" sz="1150"/>
          </a:p>
        </p:txBody>
      </p:sp>
      <p:sp>
        <p:nvSpPr>
          <p:cNvPr id="48614387" name="Shape 31"/>
          <p:cNvSpPr/>
          <p:nvPr/>
        </p:nvSpPr>
        <p:spPr bwMode="auto">
          <a:xfrm>
            <a:off x="4180331" y="3977640"/>
            <a:ext cx="3489960" cy="1417320"/>
          </a:xfrm>
          <a:prstGeom prst="roundRect">
            <a:avLst>
              <a:gd name="adj" fmla="val 6452"/>
            </a:avLst>
          </a:prstGeom>
          <a:solidFill>
            <a:srgbClr val="065A82">
              <a:alpha val="10000"/>
            </a:srgbClr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929027377" name="Text 32"/>
          <p:cNvSpPr txBox="1"/>
          <p:nvPr/>
        </p:nvSpPr>
        <p:spPr bwMode="auto">
          <a:xfrm>
            <a:off x="4381499" y="414223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0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BEST FOR</a:t>
            </a:r>
            <a:endParaRPr lang="en-US" sz="950"/>
          </a:p>
        </p:txBody>
      </p:sp>
      <p:sp>
        <p:nvSpPr>
          <p:cNvPr id="307899240" name="Text 33"/>
          <p:cNvSpPr txBox="1"/>
          <p:nvPr/>
        </p:nvSpPr>
        <p:spPr bwMode="auto">
          <a:xfrm>
            <a:off x="4381499" y="443484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Unstable, high-variance learners (deep decision trees)</a:t>
            </a:r>
            <a:endParaRPr lang="en-US" sz="1150"/>
          </a:p>
        </p:txBody>
      </p:sp>
      <p:sp>
        <p:nvSpPr>
          <p:cNvPr id="1644879971" name="Text 34"/>
          <p:cNvSpPr txBox="1"/>
          <p:nvPr/>
        </p:nvSpPr>
        <p:spPr bwMode="auto"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C7A8A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850882" name="Text 0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BAGGING</a:t>
            </a:r>
            <a:endParaRPr lang="en-US" sz="1200"/>
          </a:p>
        </p:txBody>
      </p:sp>
      <p:sp>
        <p:nvSpPr>
          <p:cNvPr id="1429889791" name="Text 1"/>
          <p:cNvSpPr txBox="1"/>
          <p:nvPr/>
        </p:nvSpPr>
        <p:spPr bwMode="auto"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Bagging: scikit</a:t>
            </a:r>
            <a:endParaRPr lang="en-US" sz="3200"/>
          </a:p>
        </p:txBody>
      </p:sp>
      <p:sp>
        <p:nvSpPr>
          <p:cNvPr id="10378391" name="Text 34"/>
          <p:cNvSpPr txBox="1"/>
          <p:nvPr/>
        </p:nvSpPr>
        <p:spPr bwMode="auto"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C7A8A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000"/>
          </a:p>
        </p:txBody>
      </p:sp>
      <p:sp>
        <p:nvSpPr>
          <p:cNvPr id="832257607" name=""/>
          <p:cNvSpPr txBox="1"/>
          <p:nvPr/>
        </p:nvSpPr>
        <p:spPr bwMode="auto">
          <a:xfrm rot="0" flipH="0" flipV="0">
            <a:off x="659380" y="1559118"/>
            <a:ext cx="10574917" cy="48466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from sklearn.ensemble import BaggingClassifier, RandomForestClassifier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from sklearn.tree import DecisionTreeClassifier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from sklearn.datasets import load_breast_cancer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from sklearn.model_selection import train_test_split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X, y = load_breast_cancer(return_X_y=True)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X_train, X_test, y_train, y_test = train_test_split(X, y, test_size=0.2)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# Generic bagging: many decision trees on bootstrap samples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1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bagging = BaggingClassifier(</a:t>
            </a:r>
            <a:endParaRPr sz="1300" b="1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    </a:t>
            </a:r>
            <a:r>
              <a:rPr lang="en-US" sz="1300" b="1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estimator=DecisionTreeClassifier(),</a:t>
            </a:r>
            <a:endParaRPr sz="1300" b="1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    n_estimators=100,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    max_samples=0.8,      # fraction of training data per bootstrap sample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    bootstrap=True,       # sample with replacement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    n_jobs=-1,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    random_state=42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)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bagging.fit(X_train, y_train)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print("Bagging accuracy:", bagging.score(X_test, y_test))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# Random Forest = bagging + random feature subsets at each split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1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rf = RandomForestClassifier(n_estimators=200, max_features="sqrt", n_jobs=-1)</a:t>
            </a:r>
            <a:endParaRPr sz="1300" b="1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rf.fit(X_train, y_train)</a:t>
            </a:r>
            <a:endParaRPr sz="1300" b="0" i="0" u="none" strike="noStrike" cap="none" spc="0">
              <a:solidFill>
                <a:schemeClr val="tx1"/>
              </a:solidFill>
              <a:latin typeface="Liberation Mono"/>
              <a:cs typeface="Liberation Mono"/>
            </a:endParaRPr>
          </a:p>
          <a:p>
            <a:pPr algn="l">
              <a:defRPr/>
            </a:pPr>
            <a:r>
              <a:rPr lang="en-US" sz="1300" b="0" i="0" u="none" strike="noStrike" cap="none" spc="0">
                <a:solidFill>
                  <a:schemeClr val="tx1"/>
                </a:solidFill>
                <a:latin typeface="Liberation Mono"/>
                <a:ea typeface="Liberation Mono"/>
                <a:cs typeface="Liberation Mono"/>
              </a:rPr>
              <a:t>print("Random Forest accuracy:", rf.score(X_test, y_test))</a:t>
            </a:r>
            <a:endParaRPr sz="1300">
              <a:latin typeface="Liberation Mono"/>
              <a:cs typeface="Liberation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315841" name="Text 0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BAGGING</a:t>
            </a:r>
            <a:endParaRPr lang="en-US" sz="1200"/>
          </a:p>
        </p:txBody>
      </p:sp>
      <p:sp>
        <p:nvSpPr>
          <p:cNvPr id="2006969191" name="Text 34"/>
          <p:cNvSpPr txBox="1"/>
          <p:nvPr/>
        </p:nvSpPr>
        <p:spPr bwMode="auto">
          <a:xfrm>
            <a:off x="1133856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C7A8A"/>
                </a:solidFill>
                <a:latin typeface="Calibri"/>
                <a:ea typeface="Calibri"/>
                <a:cs typeface="Calibri"/>
              </a:rPr>
              <a:t>07</a:t>
            </a:r>
            <a:endParaRPr lang="en-US" sz="1000"/>
          </a:p>
        </p:txBody>
      </p:sp>
      <p:pic>
        <p:nvPicPr>
          <p:cNvPr id="15472699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410409" y="734244"/>
            <a:ext cx="4378285" cy="6074951"/>
          </a:xfrm>
          <a:prstGeom prst="rect">
            <a:avLst/>
          </a:prstGeom>
        </p:spPr>
      </p:pic>
      <p:pic>
        <p:nvPicPr>
          <p:cNvPr id="129928014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8640" y="765465"/>
            <a:ext cx="4546577" cy="59775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794365" name="Text 0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BOOSTING</a:t>
            </a:r>
            <a:endParaRPr lang="en-US" sz="1200"/>
          </a:p>
        </p:txBody>
      </p:sp>
      <p:sp>
        <p:nvSpPr>
          <p:cNvPr id="873328826" name="Text 1"/>
          <p:cNvSpPr txBox="1"/>
          <p:nvPr/>
        </p:nvSpPr>
        <p:spPr bwMode="auto"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Boosting: Constrained Sequential Error Correction</a:t>
            </a:r>
            <a:endParaRPr lang="en-US" sz="3200"/>
          </a:p>
        </p:txBody>
      </p:sp>
      <p:sp>
        <p:nvSpPr>
          <p:cNvPr id="1524870848" name="Shape 2"/>
          <p:cNvSpPr/>
          <p:nvPr/>
        </p:nvSpPr>
        <p:spPr bwMode="auto">
          <a:xfrm>
            <a:off x="54864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1446998447" name="Shape 3"/>
          <p:cNvSpPr/>
          <p:nvPr/>
        </p:nvSpPr>
        <p:spPr bwMode="auto">
          <a:xfrm>
            <a:off x="777240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19290304" name="Text 4"/>
          <p:cNvSpPr txBox="1"/>
          <p:nvPr/>
        </p:nvSpPr>
        <p:spPr bwMode="auto"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500"/>
          </a:p>
        </p:txBody>
      </p:sp>
      <p:sp>
        <p:nvSpPr>
          <p:cNvPr id="315051048" name="Text 5"/>
          <p:cNvSpPr txBox="1"/>
          <p:nvPr/>
        </p:nvSpPr>
        <p:spPr bwMode="auto">
          <a:xfrm>
            <a:off x="777240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Train First Learner</a:t>
            </a:r>
            <a:endParaRPr lang="en-US" sz="1300"/>
          </a:p>
        </p:txBody>
      </p:sp>
      <p:sp>
        <p:nvSpPr>
          <p:cNvPr id="1573272450" name="Text 6"/>
          <p:cNvSpPr txBox="1"/>
          <p:nvPr/>
        </p:nvSpPr>
        <p:spPr bwMode="auto">
          <a:xfrm>
            <a:off x="77724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Fit a simple, typically weak model on the original training data.</a:t>
            </a:r>
            <a:endParaRPr lang="en-US" sz="1000"/>
          </a:p>
        </p:txBody>
      </p:sp>
      <p:sp>
        <p:nvSpPr>
          <p:cNvPr id="1913197040" name="Shape 7"/>
          <p:cNvSpPr/>
          <p:nvPr/>
        </p:nvSpPr>
        <p:spPr bwMode="auto">
          <a:xfrm>
            <a:off x="3172968" y="2674620"/>
            <a:ext cx="12801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85833061" name="Shape 8"/>
          <p:cNvSpPr/>
          <p:nvPr/>
        </p:nvSpPr>
        <p:spPr bwMode="auto">
          <a:xfrm>
            <a:off x="3319272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841563190" name="Shape 9"/>
          <p:cNvSpPr/>
          <p:nvPr/>
        </p:nvSpPr>
        <p:spPr bwMode="auto">
          <a:xfrm>
            <a:off x="3547872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40777040" name="Text 10"/>
          <p:cNvSpPr txBox="1"/>
          <p:nvPr/>
        </p:nvSpPr>
        <p:spPr bwMode="auto">
          <a:xfrm>
            <a:off x="354787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500"/>
          </a:p>
        </p:txBody>
      </p:sp>
      <p:sp>
        <p:nvSpPr>
          <p:cNvPr id="1588724524" name="Text 11"/>
          <p:cNvSpPr txBox="1"/>
          <p:nvPr/>
        </p:nvSpPr>
        <p:spPr bwMode="auto">
          <a:xfrm>
            <a:off x="3547872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Reweight the Errors</a:t>
            </a:r>
            <a:endParaRPr lang="en-US" sz="1300"/>
          </a:p>
        </p:txBody>
      </p:sp>
      <p:sp>
        <p:nvSpPr>
          <p:cNvPr id="1041402379" name="Text 12"/>
          <p:cNvSpPr txBox="1"/>
          <p:nvPr/>
        </p:nvSpPr>
        <p:spPr bwMode="auto">
          <a:xfrm>
            <a:off x="3547872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Increase the weight on misclassified points (AdaBoost) or target the residual error (Gradient Boosting).</a:t>
            </a:r>
            <a:endParaRPr lang="en-US" sz="1000"/>
          </a:p>
        </p:txBody>
      </p:sp>
      <p:sp>
        <p:nvSpPr>
          <p:cNvPr id="333847602" name="Shape 13"/>
          <p:cNvSpPr/>
          <p:nvPr/>
        </p:nvSpPr>
        <p:spPr bwMode="auto">
          <a:xfrm>
            <a:off x="5943600" y="2674620"/>
            <a:ext cx="12801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6078094" name="Shape 14"/>
          <p:cNvSpPr/>
          <p:nvPr/>
        </p:nvSpPr>
        <p:spPr bwMode="auto">
          <a:xfrm>
            <a:off x="6089904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830468135" name="Shape 15"/>
          <p:cNvSpPr/>
          <p:nvPr/>
        </p:nvSpPr>
        <p:spPr bwMode="auto">
          <a:xfrm>
            <a:off x="6318504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88608363" name="Text 16"/>
          <p:cNvSpPr txBox="1"/>
          <p:nvPr/>
        </p:nvSpPr>
        <p:spPr bwMode="auto">
          <a:xfrm>
            <a:off x="631850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500"/>
          </a:p>
        </p:txBody>
      </p:sp>
      <p:sp>
        <p:nvSpPr>
          <p:cNvPr id="1670468223" name="Text 17"/>
          <p:cNvSpPr txBox="1"/>
          <p:nvPr/>
        </p:nvSpPr>
        <p:spPr bwMode="auto">
          <a:xfrm>
            <a:off x="6318504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Train the Next Learner</a:t>
            </a:r>
            <a:endParaRPr lang="en-US" sz="1300"/>
          </a:p>
        </p:txBody>
      </p:sp>
      <p:sp>
        <p:nvSpPr>
          <p:cNvPr id="1186848865" name="Text 18"/>
          <p:cNvSpPr txBox="1"/>
          <p:nvPr/>
        </p:nvSpPr>
        <p:spPr bwMode="auto">
          <a:xfrm>
            <a:off x="6318504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Fit a new model that focuses specifically on the examples the previous ones got wrong.</a:t>
            </a:r>
            <a:endParaRPr lang="en-US" sz="1000"/>
          </a:p>
        </p:txBody>
      </p:sp>
      <p:sp>
        <p:nvSpPr>
          <p:cNvPr id="1540252386" name="Shape 19"/>
          <p:cNvSpPr/>
          <p:nvPr/>
        </p:nvSpPr>
        <p:spPr bwMode="auto">
          <a:xfrm>
            <a:off x="8714232" y="2674620"/>
            <a:ext cx="128016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8857589" name="Shape 20"/>
          <p:cNvSpPr/>
          <p:nvPr/>
        </p:nvSpPr>
        <p:spPr bwMode="auto">
          <a:xfrm>
            <a:off x="8860536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816565923" name="Shape 21"/>
          <p:cNvSpPr/>
          <p:nvPr/>
        </p:nvSpPr>
        <p:spPr bwMode="auto">
          <a:xfrm>
            <a:off x="9089136" y="1920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16053970" name="Text 22"/>
          <p:cNvSpPr txBox="1"/>
          <p:nvPr/>
        </p:nvSpPr>
        <p:spPr bwMode="auto">
          <a:xfrm>
            <a:off x="908913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500"/>
          </a:p>
        </p:txBody>
      </p:sp>
      <p:sp>
        <p:nvSpPr>
          <p:cNvPr id="2019888464" name="Text 23"/>
          <p:cNvSpPr txBox="1"/>
          <p:nvPr/>
        </p:nvSpPr>
        <p:spPr bwMode="auto">
          <a:xfrm>
            <a:off x="9089136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Combine with Weights</a:t>
            </a:r>
            <a:endParaRPr lang="en-US" sz="1300"/>
          </a:p>
        </p:txBody>
      </p:sp>
      <p:sp>
        <p:nvSpPr>
          <p:cNvPr id="1782687090" name="Text 24"/>
          <p:cNvSpPr txBox="1"/>
          <p:nvPr/>
        </p:nvSpPr>
        <p:spPr bwMode="auto">
          <a:xfrm>
            <a:off x="9089136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Repeat for n rounds, then blend every learner into one weighted final prediction.</a:t>
            </a:r>
            <a:endParaRPr lang="en-US" sz="1000"/>
          </a:p>
        </p:txBody>
      </p:sp>
      <p:sp>
        <p:nvSpPr>
          <p:cNvPr id="2005658323" name="Shape 25"/>
          <p:cNvSpPr/>
          <p:nvPr/>
        </p:nvSpPr>
        <p:spPr bwMode="auto">
          <a:xfrm>
            <a:off x="548640" y="3977640"/>
            <a:ext cx="3489960" cy="1417320"/>
          </a:xfrm>
          <a:prstGeom prst="roundRect">
            <a:avLst>
              <a:gd name="adj" fmla="val 6452"/>
            </a:avLst>
          </a:prstGeom>
          <a:solidFill>
            <a:srgbClr val="1C7293">
              <a:alpha val="1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18397452" name="Text 26"/>
          <p:cNvSpPr txBox="1"/>
          <p:nvPr/>
        </p:nvSpPr>
        <p:spPr bwMode="auto">
          <a:xfrm>
            <a:off x="749808" y="414223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REDUCES</a:t>
            </a:r>
            <a:endParaRPr lang="en-US" sz="950"/>
          </a:p>
        </p:txBody>
      </p:sp>
      <p:sp>
        <p:nvSpPr>
          <p:cNvPr id="1949037124" name="Text 27"/>
          <p:cNvSpPr txBox="1"/>
          <p:nvPr/>
        </p:nvSpPr>
        <p:spPr bwMode="auto">
          <a:xfrm>
            <a:off x="749808" y="443484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Bias / underfitting</a:t>
            </a:r>
            <a:endParaRPr lang="en-US" sz="1150"/>
          </a:p>
        </p:txBody>
      </p:sp>
      <p:sp>
        <p:nvSpPr>
          <p:cNvPr id="312205154" name="Shape 28"/>
          <p:cNvSpPr/>
          <p:nvPr/>
        </p:nvSpPr>
        <p:spPr bwMode="auto">
          <a:xfrm>
            <a:off x="4221480" y="3977640"/>
            <a:ext cx="3489960" cy="1417320"/>
          </a:xfrm>
          <a:prstGeom prst="roundRect">
            <a:avLst>
              <a:gd name="adj" fmla="val 6452"/>
            </a:avLst>
          </a:prstGeom>
          <a:solidFill>
            <a:srgbClr val="1C7293">
              <a:alpha val="1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416722954" name="Text 29"/>
          <p:cNvSpPr txBox="1"/>
          <p:nvPr/>
        </p:nvSpPr>
        <p:spPr bwMode="auto">
          <a:xfrm>
            <a:off x="4422648" y="414223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KEY ALGORITHMS</a:t>
            </a:r>
            <a:endParaRPr lang="en-US" sz="950"/>
          </a:p>
        </p:txBody>
      </p:sp>
      <p:sp>
        <p:nvSpPr>
          <p:cNvPr id="2099654010" name="Text 30"/>
          <p:cNvSpPr txBox="1"/>
          <p:nvPr/>
        </p:nvSpPr>
        <p:spPr bwMode="auto">
          <a:xfrm>
            <a:off x="4422648" y="443484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AdaBoost, Gradient Boosting, XGBoost, LightGBM</a:t>
            </a:r>
            <a:endParaRPr lang="en-US" sz="1150"/>
          </a:p>
        </p:txBody>
      </p:sp>
      <p:sp>
        <p:nvSpPr>
          <p:cNvPr id="451288720" name="Shape 31"/>
          <p:cNvSpPr/>
          <p:nvPr/>
        </p:nvSpPr>
        <p:spPr bwMode="auto">
          <a:xfrm>
            <a:off x="7894320" y="3977640"/>
            <a:ext cx="3489960" cy="1417320"/>
          </a:xfrm>
          <a:prstGeom prst="roundRect">
            <a:avLst>
              <a:gd name="adj" fmla="val 6452"/>
            </a:avLst>
          </a:prstGeom>
          <a:solidFill>
            <a:srgbClr val="1C7293">
              <a:alpha val="10000"/>
            </a:srgbClr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44148975" name="Text 32"/>
          <p:cNvSpPr txBox="1"/>
          <p:nvPr/>
        </p:nvSpPr>
        <p:spPr bwMode="auto">
          <a:xfrm>
            <a:off x="8095488" y="414223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CAUTION</a:t>
            </a:r>
            <a:endParaRPr lang="en-US" sz="950"/>
          </a:p>
        </p:txBody>
      </p:sp>
      <p:sp>
        <p:nvSpPr>
          <p:cNvPr id="1609702429" name="Text 33"/>
          <p:cNvSpPr txBox="1"/>
          <p:nvPr/>
        </p:nvSpPr>
        <p:spPr bwMode="auto">
          <a:xfrm>
            <a:off x="8095488" y="443484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Sensitive to noisy or mislabeled data </a:t>
            </a:r>
            <a:endParaRPr lang="en-US" sz="1150"/>
          </a:p>
        </p:txBody>
      </p:sp>
      <p:sp>
        <p:nvSpPr>
          <p:cNvPr id="337614857" name="Text 34"/>
          <p:cNvSpPr txBox="1"/>
          <p:nvPr/>
        </p:nvSpPr>
        <p:spPr bwMode="auto"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000">
                <a:solidFill>
                  <a:srgbClr val="5C7A8A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61177" name="Text 0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BOOSTING</a:t>
            </a:r>
            <a:endParaRPr lang="en-US" sz="1200"/>
          </a:p>
        </p:txBody>
      </p:sp>
      <p:sp>
        <p:nvSpPr>
          <p:cNvPr id="1824233100" name="Text 1"/>
          <p:cNvSpPr txBox="1"/>
          <p:nvPr/>
        </p:nvSpPr>
        <p:spPr bwMode="auto"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Boosting: scikit</a:t>
            </a:r>
            <a:endParaRPr lang="en-US" sz="3200"/>
          </a:p>
        </p:txBody>
      </p:sp>
      <p:sp>
        <p:nvSpPr>
          <p:cNvPr id="82645603" name=""/>
          <p:cNvSpPr txBox="1"/>
          <p:nvPr/>
        </p:nvSpPr>
        <p:spPr bwMode="auto">
          <a:xfrm rot="0" flipH="0" flipV="0">
            <a:off x="749029" y="1464253"/>
            <a:ext cx="8806789" cy="5212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from sklearn.ensemble import AdaBoostClassifier, GradientBoostingClassifier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from sklearn.tree import DecisionTreeClassifier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# AdaBoost: reweights misclassified samples each round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ada = AdaBoostClassifier(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estimator=DecisionTreeClassifier(max_depth=1),  # weak learner ("stump")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n_estimators=200,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learning_rate=0.5,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random_state=42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)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ada.fit(X_train, y_train)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print("AdaBoost accuracy:", ada.score(X_test, y_test))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# Gradient Boosting: fits each new tree to the residual error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gb = GradientBoostingClassifier(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n_estimators=200,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learning_rate=0.05,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max_depth=3,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random_state=42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)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gb.fit(X_train, y_train)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print("Gradient Boosting accuracy:", gb.score(X_test, y_test))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# XGBoost (optimized gradient boosting; pip install xgboost)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from xgboost import XGBClassifier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xgb = XGBClassifier(n_estimators=200, learning_rate=0.05, max_depth=3, eval_metric="logloss")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xgb.fit(X_train, y_train)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print("XGBoost accuracy:", xgb.score(X_test, y_test))</a:t>
            </a:r>
            <a:endParaRPr sz="1200">
              <a:latin typeface="Liberation Mono"/>
              <a:cs typeface="Liberation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102647" name="Text 0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 BOOSTING</a:t>
            </a:r>
            <a:endParaRPr lang="en-US" sz="1200"/>
          </a:p>
        </p:txBody>
      </p:sp>
      <p:pic>
        <p:nvPicPr>
          <p:cNvPr id="7718101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58608" y="777240"/>
            <a:ext cx="4391825" cy="5722289"/>
          </a:xfrm>
          <a:prstGeom prst="rect">
            <a:avLst/>
          </a:prstGeom>
        </p:spPr>
      </p:pic>
      <p:pic>
        <p:nvPicPr>
          <p:cNvPr id="1576196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397205" y="491048"/>
            <a:ext cx="3806228" cy="6294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821713" name="Text 0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STACKING</a:t>
            </a:r>
            <a:endParaRPr lang="en-US" sz="1200"/>
          </a:p>
        </p:txBody>
      </p:sp>
      <p:sp>
        <p:nvSpPr>
          <p:cNvPr id="2144547270" name="Text 1"/>
          <p:cNvSpPr txBox="1"/>
          <p:nvPr/>
        </p:nvSpPr>
        <p:spPr bwMode="auto"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Stacking: Feature extraction for subsequent model</a:t>
            </a:r>
            <a:endParaRPr lang="en-US" sz="3200"/>
          </a:p>
        </p:txBody>
      </p:sp>
      <p:sp>
        <p:nvSpPr>
          <p:cNvPr id="1142048520" name="Shape 2"/>
          <p:cNvSpPr/>
          <p:nvPr/>
        </p:nvSpPr>
        <p:spPr bwMode="auto">
          <a:xfrm>
            <a:off x="548640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925765238" name="Shape 3"/>
          <p:cNvSpPr/>
          <p:nvPr/>
        </p:nvSpPr>
        <p:spPr bwMode="auto">
          <a:xfrm>
            <a:off x="777240" y="19202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48513866" name="Text 4"/>
          <p:cNvSpPr txBox="1"/>
          <p:nvPr/>
        </p:nvSpPr>
        <p:spPr bwMode="auto"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500"/>
          </a:p>
        </p:txBody>
      </p:sp>
      <p:sp>
        <p:nvSpPr>
          <p:cNvPr id="1134292733" name="Text 5"/>
          <p:cNvSpPr txBox="1"/>
          <p:nvPr/>
        </p:nvSpPr>
        <p:spPr bwMode="auto">
          <a:xfrm>
            <a:off x="777240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Train Base Learners</a:t>
            </a:r>
            <a:endParaRPr lang="en-US" sz="1300"/>
          </a:p>
        </p:txBody>
      </p:sp>
      <p:sp>
        <p:nvSpPr>
          <p:cNvPr id="227257702" name="Text 6"/>
          <p:cNvSpPr txBox="1"/>
          <p:nvPr/>
        </p:nvSpPr>
        <p:spPr bwMode="auto">
          <a:xfrm>
            <a:off x="777240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Fit several different model types — e.g. SVM, k-NN, and a decision tree — on the same data.</a:t>
            </a:r>
            <a:endParaRPr lang="en-US" sz="1000"/>
          </a:p>
        </p:txBody>
      </p:sp>
      <p:sp>
        <p:nvSpPr>
          <p:cNvPr id="1793162081" name="Shape 7"/>
          <p:cNvSpPr/>
          <p:nvPr/>
        </p:nvSpPr>
        <p:spPr bwMode="auto">
          <a:xfrm>
            <a:off x="3172968" y="2674620"/>
            <a:ext cx="128016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495839558" name="Shape 8"/>
          <p:cNvSpPr/>
          <p:nvPr/>
        </p:nvSpPr>
        <p:spPr bwMode="auto">
          <a:xfrm>
            <a:off x="3319272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757769187" name="Shape 9"/>
          <p:cNvSpPr/>
          <p:nvPr/>
        </p:nvSpPr>
        <p:spPr bwMode="auto">
          <a:xfrm>
            <a:off x="3547872" y="19202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66267506" name="Text 10"/>
          <p:cNvSpPr txBox="1"/>
          <p:nvPr/>
        </p:nvSpPr>
        <p:spPr bwMode="auto">
          <a:xfrm>
            <a:off x="354787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500"/>
          </a:p>
        </p:txBody>
      </p:sp>
      <p:sp>
        <p:nvSpPr>
          <p:cNvPr id="589201877" name="Text 11"/>
          <p:cNvSpPr txBox="1"/>
          <p:nvPr/>
        </p:nvSpPr>
        <p:spPr bwMode="auto">
          <a:xfrm>
            <a:off x="3547872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Out-of-Fold Predictions</a:t>
            </a:r>
            <a:endParaRPr lang="en-US" sz="1300"/>
          </a:p>
        </p:txBody>
      </p:sp>
      <p:sp>
        <p:nvSpPr>
          <p:cNvPr id="387071354" name="Text 12"/>
          <p:cNvSpPr txBox="1"/>
          <p:nvPr/>
        </p:nvSpPr>
        <p:spPr bwMode="auto">
          <a:xfrm>
            <a:off x="3547872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Use cross-validation so each prediction comes from data the model didn't train on.</a:t>
            </a:r>
            <a:endParaRPr lang="en-US" sz="1000"/>
          </a:p>
        </p:txBody>
      </p:sp>
      <p:sp>
        <p:nvSpPr>
          <p:cNvPr id="696824795" name="Shape 13"/>
          <p:cNvSpPr/>
          <p:nvPr/>
        </p:nvSpPr>
        <p:spPr bwMode="auto">
          <a:xfrm>
            <a:off x="5943600" y="2674620"/>
            <a:ext cx="128016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675418928" name="Shape 14"/>
          <p:cNvSpPr/>
          <p:nvPr/>
        </p:nvSpPr>
        <p:spPr bwMode="auto">
          <a:xfrm>
            <a:off x="6089904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1137896945" name="Shape 15"/>
          <p:cNvSpPr/>
          <p:nvPr/>
        </p:nvSpPr>
        <p:spPr bwMode="auto">
          <a:xfrm>
            <a:off x="6318504" y="19202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92557496" name="Text 16"/>
          <p:cNvSpPr txBox="1"/>
          <p:nvPr/>
        </p:nvSpPr>
        <p:spPr bwMode="auto">
          <a:xfrm>
            <a:off x="631850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500"/>
          </a:p>
        </p:txBody>
      </p:sp>
      <p:sp>
        <p:nvSpPr>
          <p:cNvPr id="448519727" name="Text 17"/>
          <p:cNvSpPr txBox="1"/>
          <p:nvPr/>
        </p:nvSpPr>
        <p:spPr bwMode="auto">
          <a:xfrm>
            <a:off x="6318504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Build Meta-Features</a:t>
            </a:r>
            <a:endParaRPr lang="en-US" sz="1300"/>
          </a:p>
        </p:txBody>
      </p:sp>
      <p:sp>
        <p:nvSpPr>
          <p:cNvPr id="348941986" name="Text 18"/>
          <p:cNvSpPr txBox="1"/>
          <p:nvPr/>
        </p:nvSpPr>
        <p:spPr bwMode="auto">
          <a:xfrm>
            <a:off x="6318504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Treat each base learner's predictions as new input features for a second-stage model.</a:t>
            </a:r>
            <a:endParaRPr lang="en-US" sz="1000"/>
          </a:p>
        </p:txBody>
      </p:sp>
      <p:sp>
        <p:nvSpPr>
          <p:cNvPr id="1643252220" name="Shape 19"/>
          <p:cNvSpPr/>
          <p:nvPr/>
        </p:nvSpPr>
        <p:spPr bwMode="auto">
          <a:xfrm>
            <a:off x="8714232" y="2674620"/>
            <a:ext cx="128016" cy="0"/>
          </a:xfrm>
          <a:prstGeom prst="line">
            <a:avLst/>
          </a:prstGeom>
          <a:noFill/>
          <a:ln w="2540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1112111565" name="Shape 20"/>
          <p:cNvSpPr/>
          <p:nvPr/>
        </p:nvSpPr>
        <p:spPr bwMode="auto">
          <a:xfrm>
            <a:off x="8860536" y="16916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AF3F8"/>
          </a:solidFill>
          <a:ln/>
        </p:spPr>
      </p:sp>
      <p:sp>
        <p:nvSpPr>
          <p:cNvPr id="640481816" name="Shape 21"/>
          <p:cNvSpPr/>
          <p:nvPr/>
        </p:nvSpPr>
        <p:spPr bwMode="auto">
          <a:xfrm>
            <a:off x="9089136" y="19202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72135884" name="Text 22"/>
          <p:cNvSpPr txBox="1"/>
          <p:nvPr/>
        </p:nvSpPr>
        <p:spPr bwMode="auto">
          <a:xfrm>
            <a:off x="908913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500"/>
          </a:p>
        </p:txBody>
      </p:sp>
      <p:sp>
        <p:nvSpPr>
          <p:cNvPr id="723865457" name="Text 23"/>
          <p:cNvSpPr txBox="1"/>
          <p:nvPr/>
        </p:nvSpPr>
        <p:spPr bwMode="auto">
          <a:xfrm>
            <a:off x="9089136" y="25146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  <a:defRPr/>
            </a:pPr>
            <a:r>
              <a:rPr lang="en-US" sz="13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Train the Meta-Learner</a:t>
            </a:r>
            <a:endParaRPr lang="en-US" sz="1300"/>
          </a:p>
        </p:txBody>
      </p:sp>
      <p:sp>
        <p:nvSpPr>
          <p:cNvPr id="2018707410" name="Text 24"/>
          <p:cNvSpPr txBox="1"/>
          <p:nvPr/>
        </p:nvSpPr>
        <p:spPr bwMode="auto">
          <a:xfrm>
            <a:off x="9089136" y="29718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0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Fit a final model that learns the best way to weigh and combine the base predictions.</a:t>
            </a:r>
            <a:endParaRPr lang="en-US" sz="1000"/>
          </a:p>
        </p:txBody>
      </p:sp>
      <p:sp>
        <p:nvSpPr>
          <p:cNvPr id="39373269" name="Shape 25"/>
          <p:cNvSpPr/>
          <p:nvPr/>
        </p:nvSpPr>
        <p:spPr bwMode="auto">
          <a:xfrm>
            <a:off x="548640" y="3977640"/>
            <a:ext cx="3489960" cy="1417320"/>
          </a:xfrm>
          <a:prstGeom prst="roundRect">
            <a:avLst>
              <a:gd name="adj" fmla="val 6452"/>
            </a:avLst>
          </a:prstGeom>
          <a:solidFill>
            <a:srgbClr val="21295C">
              <a:alpha val="10000"/>
            </a:srgbClr>
          </a:solidFill>
          <a:ln w="9525">
            <a:solidFill>
              <a:srgbClr val="21295C"/>
            </a:solidFill>
            <a:prstDash val="solid"/>
          </a:ln>
        </p:spPr>
      </p:sp>
      <p:sp>
        <p:nvSpPr>
          <p:cNvPr id="705404689" name="Text 26"/>
          <p:cNvSpPr txBox="1"/>
          <p:nvPr/>
        </p:nvSpPr>
        <p:spPr bwMode="auto">
          <a:xfrm>
            <a:off x="749808" y="414223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REDUCES</a:t>
            </a:r>
            <a:endParaRPr lang="en-US" sz="950"/>
          </a:p>
        </p:txBody>
      </p:sp>
      <p:sp>
        <p:nvSpPr>
          <p:cNvPr id="2123357863" name="Text 27"/>
          <p:cNvSpPr txBox="1"/>
          <p:nvPr/>
        </p:nvSpPr>
        <p:spPr bwMode="auto">
          <a:xfrm>
            <a:off x="749808" y="443484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Both bias and variance, via a learned blend</a:t>
            </a:r>
            <a:endParaRPr lang="en-US" sz="1150"/>
          </a:p>
        </p:txBody>
      </p:sp>
      <p:sp>
        <p:nvSpPr>
          <p:cNvPr id="415402615" name="Shape 28"/>
          <p:cNvSpPr/>
          <p:nvPr/>
        </p:nvSpPr>
        <p:spPr bwMode="auto">
          <a:xfrm>
            <a:off x="4221480" y="3977640"/>
            <a:ext cx="3489960" cy="1417320"/>
          </a:xfrm>
          <a:prstGeom prst="roundRect">
            <a:avLst>
              <a:gd name="adj" fmla="val 6452"/>
            </a:avLst>
          </a:prstGeom>
          <a:solidFill>
            <a:srgbClr val="21295C">
              <a:alpha val="10000"/>
            </a:srgbClr>
          </a:solidFill>
          <a:ln w="9525">
            <a:solidFill>
              <a:srgbClr val="21295C"/>
            </a:solidFill>
            <a:prstDash val="solid"/>
          </a:ln>
        </p:spPr>
      </p:sp>
      <p:sp>
        <p:nvSpPr>
          <p:cNvPr id="1745631947" name="Text 29"/>
          <p:cNvSpPr txBox="1"/>
          <p:nvPr/>
        </p:nvSpPr>
        <p:spPr bwMode="auto">
          <a:xfrm>
            <a:off x="4422648" y="4142232"/>
            <a:ext cx="3087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50" b="1" spc="10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KEY IDEA</a:t>
            </a:r>
            <a:endParaRPr lang="en-US" sz="950"/>
          </a:p>
        </p:txBody>
      </p:sp>
      <p:sp>
        <p:nvSpPr>
          <p:cNvPr id="164053833" name="Text 30"/>
          <p:cNvSpPr txBox="1"/>
          <p:nvPr/>
        </p:nvSpPr>
        <p:spPr bwMode="auto">
          <a:xfrm>
            <a:off x="4422648" y="4434840"/>
            <a:ext cx="3087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999"/>
              </a:lnSpc>
              <a:buNone/>
              <a:defRPr/>
            </a:pPr>
            <a:r>
              <a:rPr lang="en-US" sz="1150" b="1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Meta-learning over heterogeneous models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711286" name="Text 0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STACKING</a:t>
            </a:r>
            <a:endParaRPr lang="en-US" sz="1200"/>
          </a:p>
        </p:txBody>
      </p:sp>
      <p:sp>
        <p:nvSpPr>
          <p:cNvPr id="2002395923" name="Text 1"/>
          <p:cNvSpPr txBox="1"/>
          <p:nvPr/>
        </p:nvSpPr>
        <p:spPr bwMode="auto"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Stacking: Feature extraction for subsequent model</a:t>
            </a:r>
            <a:endParaRPr lang="en-US" sz="3200"/>
          </a:p>
        </p:txBody>
      </p:sp>
      <p:sp>
        <p:nvSpPr>
          <p:cNvPr id="1775166843" name=""/>
          <p:cNvSpPr txBox="1"/>
          <p:nvPr/>
        </p:nvSpPr>
        <p:spPr bwMode="auto">
          <a:xfrm rot="0" flipH="0" flipV="0">
            <a:off x="1103046" y="1651330"/>
            <a:ext cx="8383392" cy="3932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from sklearn.ensemble import StackingClassifier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from sklearn.linear_model import LogisticRegression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from sklearn.svm import SVC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from sklearn.neighbors import KNeighborsClassifier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# Level-0: heterogeneous base learners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base_learners = [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("svm", SVC(probability=True, random_state=42)),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("knn", KNeighborsClassifier(n_neighbors=5)),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("tree", DecisionTreeClassifier(max_depth=5, random_state=42)),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]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# Level-1: meta-learner that combines their out-of-fold predictions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stack = StackingClassifier(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estimators=base_learners,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final_estimator=LogisticRegression(),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cv=5,              # generates out-of-fold predictions to avoid leakage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    n_jobs=-1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 b="1">
                <a:latin typeface="Liberation Mono"/>
                <a:ea typeface="Liberation Mono"/>
                <a:cs typeface="Liberation Mono"/>
              </a:rPr>
              <a:t>)</a:t>
            </a:r>
            <a:endParaRPr sz="1200" b="1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stack.fit(X_train, y_train)</a:t>
            </a:r>
            <a:endParaRPr sz="1200">
              <a:latin typeface="Liberation Mono"/>
              <a:cs typeface="Liberation Mono"/>
            </a:endParaRPr>
          </a:p>
          <a:p>
            <a:pPr algn="l">
              <a:defRPr/>
            </a:pPr>
            <a:r>
              <a:rPr sz="1200">
                <a:latin typeface="Liberation Mono"/>
                <a:ea typeface="Liberation Mono"/>
                <a:cs typeface="Liberation Mono"/>
              </a:rPr>
              <a:t>print("Stacking accuracy:", stack.score(X_test, y_test))</a:t>
            </a:r>
            <a:endParaRPr sz="1200">
              <a:latin typeface="Liberation Mono"/>
              <a:cs typeface="Liberation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109863" name="Text 0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STACKING</a:t>
            </a:r>
            <a:endParaRPr lang="en-US" sz="1200"/>
          </a:p>
        </p:txBody>
      </p:sp>
      <p:pic>
        <p:nvPicPr>
          <p:cNvPr id="9061875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0" y="773043"/>
            <a:ext cx="4893796" cy="5922065"/>
          </a:xfrm>
          <a:prstGeom prst="rect">
            <a:avLst/>
          </a:prstGeom>
        </p:spPr>
      </p:pic>
      <p:pic>
        <p:nvPicPr>
          <p:cNvPr id="210865167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62833" y="784846"/>
            <a:ext cx="6389775" cy="47123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62571" name="Text 0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99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THE DIVERSITY PRINCIPLE</a:t>
            </a:r>
            <a:endParaRPr lang="en-US" sz="1200"/>
          </a:p>
        </p:txBody>
      </p:sp>
      <p:sp>
        <p:nvSpPr>
          <p:cNvPr id="2071177546" name="Text 1"/>
          <p:cNvSpPr txBox="1"/>
          <p:nvPr/>
        </p:nvSpPr>
        <p:spPr bwMode="auto"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21295C"/>
                </a:solidFill>
                <a:latin typeface="Cambria"/>
                <a:ea typeface="Cambria"/>
                <a:cs typeface="Cambria"/>
              </a:rPr>
              <a:t>Ensembles Only Win When Models Disagree</a:t>
            </a:r>
            <a:endParaRPr lang="en-US" sz="3200"/>
          </a:p>
        </p:txBody>
      </p:sp>
      <p:sp>
        <p:nvSpPr>
          <p:cNvPr id="1525454659" name="Text 2"/>
          <p:cNvSpPr txBox="1"/>
          <p:nvPr/>
        </p:nvSpPr>
        <p:spPr bwMode="auto">
          <a:xfrm>
            <a:off x="548640" y="1417319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C7A8A"/>
                </a:solidFill>
                <a:latin typeface="Calibri"/>
                <a:ea typeface="Calibri"/>
                <a:cs typeface="Calibri"/>
              </a:rPr>
              <a:t>Combining predictions only helps if the base models make different mistakes. If they always fail on the same examples, averaging changes nothing.</a:t>
            </a:r>
            <a:endParaRPr lang="en-US" sz="1400"/>
          </a:p>
        </p:txBody>
      </p:sp>
      <p:sp>
        <p:nvSpPr>
          <p:cNvPr id="436126511" name="Shape 3"/>
          <p:cNvSpPr/>
          <p:nvPr/>
        </p:nvSpPr>
        <p:spPr bwMode="auto">
          <a:xfrm>
            <a:off x="548640" y="214884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EAF3F8"/>
          </a:solidFill>
          <a:ln/>
        </p:spPr>
      </p:sp>
      <p:sp>
        <p:nvSpPr>
          <p:cNvPr id="1143793719" name="Text 4"/>
          <p:cNvSpPr txBox="1"/>
          <p:nvPr/>
        </p:nvSpPr>
        <p:spPr bwMode="auto">
          <a:xfrm>
            <a:off x="868680" y="24231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149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A WORKED EXAMPLE</a:t>
            </a:r>
            <a:endParaRPr lang="en-US" sz="1100"/>
          </a:p>
        </p:txBody>
      </p:sp>
      <p:sp>
        <p:nvSpPr>
          <p:cNvPr id="493067883" name="Text 5"/>
          <p:cNvSpPr txBox="1"/>
          <p:nvPr/>
        </p:nvSpPr>
        <p:spPr bwMode="auto">
          <a:xfrm>
            <a:off x="868680" y="274320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135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5 classifiers, each 70% accurate, errors independent</a:t>
            </a:r>
            <a:endParaRPr lang="en-US" sz="1350"/>
          </a:p>
        </p:txBody>
      </p:sp>
      <p:sp>
        <p:nvSpPr>
          <p:cNvPr id="423759607" name="Text 6"/>
          <p:cNvSpPr txBox="1"/>
          <p:nvPr/>
        </p:nvSpPr>
        <p:spPr bwMode="auto">
          <a:xfrm>
            <a:off x="868680" y="3383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5C7A8A"/>
                </a:solidFill>
                <a:latin typeface="Cambria"/>
                <a:ea typeface="Cambria"/>
                <a:cs typeface="Cambria"/>
              </a:rPr>
              <a:t>70%</a:t>
            </a:r>
            <a:endParaRPr lang="en-US" sz="4000"/>
          </a:p>
        </p:txBody>
      </p:sp>
      <p:sp>
        <p:nvSpPr>
          <p:cNvPr id="141336589" name="Text 7"/>
          <p:cNvSpPr txBox="1"/>
          <p:nvPr/>
        </p:nvSpPr>
        <p:spPr bwMode="auto">
          <a:xfrm>
            <a:off x="86868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5C7A8A"/>
                </a:solidFill>
                <a:latin typeface="Calibri"/>
                <a:ea typeface="Calibri"/>
                <a:cs typeface="Calibri"/>
              </a:rPr>
              <a:t>single model</a:t>
            </a:r>
            <a:endParaRPr lang="en-US" sz="1050"/>
          </a:p>
        </p:txBody>
      </p:sp>
      <p:sp>
        <p:nvSpPr>
          <p:cNvPr id="603593709" name="Shape 8"/>
          <p:cNvSpPr/>
          <p:nvPr/>
        </p:nvSpPr>
        <p:spPr bwMode="auto">
          <a:xfrm>
            <a:off x="2834640" y="3749040"/>
            <a:ext cx="640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53086059" name="Text 9"/>
          <p:cNvSpPr txBox="1"/>
          <p:nvPr/>
        </p:nvSpPr>
        <p:spPr bwMode="auto">
          <a:xfrm>
            <a:off x="3611880" y="3383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83.7%</a:t>
            </a:r>
            <a:endParaRPr lang="en-US" sz="4000"/>
          </a:p>
        </p:txBody>
      </p:sp>
      <p:sp>
        <p:nvSpPr>
          <p:cNvPr id="1612225419" name="Text 10"/>
          <p:cNvSpPr txBox="1"/>
          <p:nvPr/>
        </p:nvSpPr>
        <p:spPr bwMode="auto">
          <a:xfrm>
            <a:off x="361188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065A82"/>
                </a:solidFill>
                <a:latin typeface="Calibri"/>
                <a:ea typeface="Calibri"/>
                <a:cs typeface="Calibri"/>
              </a:rPr>
              <a:t>majority vote</a:t>
            </a:r>
            <a:endParaRPr lang="en-US" sz="1050"/>
          </a:p>
        </p:txBody>
      </p:sp>
      <p:sp>
        <p:nvSpPr>
          <p:cNvPr id="1144921810" name="Text 11"/>
          <p:cNvSpPr txBox="1"/>
          <p:nvPr/>
        </p:nvSpPr>
        <p:spPr bwMode="auto">
          <a:xfrm>
            <a:off x="868680" y="466344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  <a:defRPr/>
            </a:pPr>
            <a:r>
              <a:rPr lang="en-US" sz="115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A majority vote is correct whenever at least 3 of the 5 models are correct — the binomial distribution puts that probability at 83.7%, a ~14-point gain from models that are individually just decent.</a:t>
            </a:r>
            <a:endParaRPr lang="en-US" sz="1150"/>
          </a:p>
        </p:txBody>
      </p:sp>
      <p:sp>
        <p:nvSpPr>
          <p:cNvPr id="1947595897" name="Shape 12"/>
          <p:cNvSpPr/>
          <p:nvPr/>
        </p:nvSpPr>
        <p:spPr bwMode="auto">
          <a:xfrm>
            <a:off x="5943600" y="2053589"/>
            <a:ext cx="5669280" cy="178308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</p:spPr>
      </p:sp>
      <p:sp>
        <p:nvSpPr>
          <p:cNvPr id="1624451791" name="Shape 13"/>
          <p:cNvSpPr/>
          <p:nvPr/>
        </p:nvSpPr>
        <p:spPr bwMode="auto">
          <a:xfrm>
            <a:off x="6217920" y="2309621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8395442" name="Text 14"/>
          <p:cNvSpPr txBox="1"/>
          <p:nvPr/>
        </p:nvSpPr>
        <p:spPr bwMode="auto">
          <a:xfrm>
            <a:off x="6217920" y="2309621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GOOD</a:t>
            </a:r>
            <a:endParaRPr lang="en-US" sz="950"/>
          </a:p>
        </p:txBody>
      </p:sp>
      <p:sp>
        <p:nvSpPr>
          <p:cNvPr id="750156306" name="Text 15"/>
          <p:cNvSpPr txBox="1"/>
          <p:nvPr/>
        </p:nvSpPr>
        <p:spPr bwMode="auto">
          <a:xfrm>
            <a:off x="6217920" y="2675381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Independent Errors</a:t>
            </a:r>
            <a:endParaRPr lang="en-US" sz="1500"/>
          </a:p>
        </p:txBody>
      </p:sp>
      <p:sp>
        <p:nvSpPr>
          <p:cNvPr id="560563668" name="Text 16"/>
          <p:cNvSpPr txBox="1"/>
          <p:nvPr/>
        </p:nvSpPr>
        <p:spPr bwMode="auto">
          <a:xfrm>
            <a:off x="6217920" y="3041141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Each model stumbles on different examples. Combining them cancels out most of the individual mistakes — this is where ensembling pays off.</a:t>
            </a:r>
            <a:endParaRPr sz="1400"/>
          </a:p>
        </p:txBody>
      </p:sp>
      <p:sp>
        <p:nvSpPr>
          <p:cNvPr id="2115746677" name="Shape 17"/>
          <p:cNvSpPr/>
          <p:nvPr/>
        </p:nvSpPr>
        <p:spPr bwMode="auto">
          <a:xfrm>
            <a:off x="5943600" y="3874768"/>
            <a:ext cx="5669280" cy="1783080"/>
          </a:xfrm>
          <a:prstGeom prst="roundRect">
            <a:avLst>
              <a:gd name="adj" fmla="val 6154"/>
            </a:avLst>
          </a:prstGeom>
          <a:solidFill>
            <a:srgbClr val="EAF3F8"/>
          </a:solidFill>
          <a:ln/>
        </p:spPr>
      </p:sp>
      <p:sp>
        <p:nvSpPr>
          <p:cNvPr id="1133365145" name="Shape 18"/>
          <p:cNvSpPr/>
          <p:nvPr/>
        </p:nvSpPr>
        <p:spPr bwMode="auto">
          <a:xfrm>
            <a:off x="6217920" y="413080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9A9FB5"/>
          </a:solidFill>
          <a:ln/>
        </p:spPr>
      </p:sp>
      <p:sp>
        <p:nvSpPr>
          <p:cNvPr id="2014408083" name="Text 19"/>
          <p:cNvSpPr txBox="1"/>
          <p:nvPr/>
        </p:nvSpPr>
        <p:spPr bwMode="auto">
          <a:xfrm>
            <a:off x="6217920" y="413080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WEAK</a:t>
            </a:r>
            <a:endParaRPr lang="en-US" sz="950"/>
          </a:p>
        </p:txBody>
      </p:sp>
      <p:sp>
        <p:nvSpPr>
          <p:cNvPr id="967267906" name="Text 20"/>
          <p:cNvSpPr txBox="1"/>
          <p:nvPr/>
        </p:nvSpPr>
        <p:spPr bwMode="auto">
          <a:xfrm>
            <a:off x="6217920" y="449656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Correlated Errors</a:t>
            </a:r>
            <a:endParaRPr lang="en-US" sz="1500"/>
          </a:p>
        </p:txBody>
      </p:sp>
      <p:sp>
        <p:nvSpPr>
          <p:cNvPr id="885602345" name="Text 21"/>
          <p:cNvSpPr txBox="1"/>
          <p:nvPr/>
        </p:nvSpPr>
        <p:spPr bwMode="auto">
          <a:xfrm>
            <a:off x="6217920" y="4862321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1400">
                <a:solidFill>
                  <a:srgbClr val="1B2430"/>
                </a:solidFill>
                <a:latin typeface="Calibri"/>
                <a:ea typeface="Calibri"/>
                <a:cs typeface="Calibri"/>
              </a:rPr>
              <a:t>Models trained the same way on the same data tend to fail on the same hard cases. If all members miss together, the vote stays stuck at their solo accuracy.</a:t>
            </a:r>
            <a:endParaRPr sz="1400"/>
          </a:p>
        </p:txBody>
      </p:sp>
      <p:sp>
        <p:nvSpPr>
          <p:cNvPr id="1637207424" name="Text 22"/>
          <p:cNvSpPr txBox="1"/>
          <p:nvPr/>
        </p:nvSpPr>
        <p:spPr bwMode="auto">
          <a:xfrm flipH="0" flipV="0">
            <a:off x="954449" y="5985509"/>
            <a:ext cx="106584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i="1">
                <a:solidFill>
                  <a:srgbClr val="5C7A8A"/>
                </a:solidFill>
                <a:latin typeface="Calibri"/>
                <a:ea typeface="Calibri"/>
                <a:cs typeface="Calibri"/>
              </a:rPr>
              <a:t>Diversity comes from different training samples (bagging) and feature subsets (random forests), different model families (stacking), or reweighted training rounds (boosting).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21295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619690" name="Shape 0"/>
          <p:cNvSpPr/>
          <p:nvPr/>
        </p:nvSpPr>
        <p:spPr bwMode="auto">
          <a:xfrm>
            <a:off x="-2011680" y="-2011680"/>
            <a:ext cx="4754880" cy="475488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1457319378" name="Shape 1"/>
          <p:cNvSpPr/>
          <p:nvPr/>
        </p:nvSpPr>
        <p:spPr bwMode="auto">
          <a:xfrm>
            <a:off x="9875520" y="4754880"/>
            <a:ext cx="4023360" cy="402336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1692492284" name="Text 2"/>
          <p:cNvSpPr txBox="1"/>
          <p:nvPr/>
        </p:nvSpPr>
        <p:spPr bwMode="auto"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200">
                <a:solidFill>
                  <a:srgbClr val="8FA6C9"/>
                </a:solidFill>
                <a:latin typeface="Calibri"/>
                <a:ea typeface="Calibri"/>
                <a:cs typeface="Calibri"/>
              </a:rPr>
              <a:t>SUMMARY</a:t>
            </a:r>
            <a:endParaRPr lang="en-US" sz="1200"/>
          </a:p>
        </p:txBody>
      </p:sp>
      <p:sp>
        <p:nvSpPr>
          <p:cNvPr id="1976871276" name="Text 3"/>
          <p:cNvSpPr txBox="1"/>
          <p:nvPr/>
        </p:nvSpPr>
        <p:spPr bwMode="auto"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Key Takeaways</a:t>
            </a:r>
            <a:endParaRPr lang="en-US" sz="3400"/>
          </a:p>
        </p:txBody>
      </p:sp>
      <p:sp>
        <p:nvSpPr>
          <p:cNvPr id="393933432" name="Shape 4"/>
          <p:cNvSpPr/>
          <p:nvPr/>
        </p:nvSpPr>
        <p:spPr bwMode="auto">
          <a:xfrm>
            <a:off x="548640" y="1709928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426492091" name="Text 5"/>
          <p:cNvSpPr txBox="1"/>
          <p:nvPr/>
        </p:nvSpPr>
        <p:spPr bwMode="auto">
          <a:xfrm>
            <a:off x="5486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1</a:t>
            </a:r>
            <a:endParaRPr lang="en-US" sz="1400"/>
          </a:p>
        </p:txBody>
      </p:sp>
      <p:sp>
        <p:nvSpPr>
          <p:cNvPr id="1063667089" name="Text 6"/>
          <p:cNvSpPr txBox="1"/>
          <p:nvPr/>
        </p:nvSpPr>
        <p:spPr bwMode="auto">
          <a:xfrm>
            <a:off x="1143000" y="1636776"/>
            <a:ext cx="10424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Diversity is the real engine.  </a:t>
            </a:r>
            <a:r>
              <a:rPr lang="en-US" sz="2000">
                <a:solidFill>
                  <a:srgbClr val="C7D9E5"/>
                </a:solidFill>
                <a:latin typeface="Calibri"/>
                <a:ea typeface="Calibri"/>
                <a:cs typeface="Calibri"/>
              </a:rPr>
              <a:t>Ensembling only helps when base models genuinely disagree — identical models add cost, not accuracy.</a:t>
            </a:r>
            <a:endParaRPr sz="2000"/>
          </a:p>
        </p:txBody>
      </p:sp>
      <p:sp>
        <p:nvSpPr>
          <p:cNvPr id="60557848" name="Shape 7"/>
          <p:cNvSpPr/>
          <p:nvPr/>
        </p:nvSpPr>
        <p:spPr bwMode="auto">
          <a:xfrm>
            <a:off x="548640" y="2606040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9252524" name="Text 8"/>
          <p:cNvSpPr txBox="1"/>
          <p:nvPr/>
        </p:nvSpPr>
        <p:spPr bwMode="auto">
          <a:xfrm>
            <a:off x="5486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2</a:t>
            </a:r>
            <a:endParaRPr lang="en-US" sz="1400"/>
          </a:p>
        </p:txBody>
      </p:sp>
      <p:sp>
        <p:nvSpPr>
          <p:cNvPr id="1371273771" name="Text 9"/>
          <p:cNvSpPr txBox="1"/>
          <p:nvPr/>
        </p:nvSpPr>
        <p:spPr bwMode="auto">
          <a:xfrm>
            <a:off x="1143000" y="2532888"/>
            <a:ext cx="10424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Bagging, boosting, and stacking solve different problems.  </a:t>
            </a:r>
            <a:r>
              <a:rPr lang="en-US" sz="2000">
                <a:solidFill>
                  <a:srgbClr val="C7D9E5"/>
                </a:solidFill>
                <a:latin typeface="Calibri"/>
                <a:ea typeface="Calibri"/>
                <a:cs typeface="Calibri"/>
              </a:rPr>
              <a:t>Bagging tames variance, boosting tames bias, and stacking learns the best blend of both.</a:t>
            </a:r>
            <a:endParaRPr sz="2000"/>
          </a:p>
        </p:txBody>
      </p:sp>
      <p:sp>
        <p:nvSpPr>
          <p:cNvPr id="1949884006" name="Shape 10"/>
          <p:cNvSpPr/>
          <p:nvPr/>
        </p:nvSpPr>
        <p:spPr bwMode="auto">
          <a:xfrm>
            <a:off x="548640" y="3502152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500590036" name="Text 11"/>
          <p:cNvSpPr txBox="1"/>
          <p:nvPr/>
        </p:nvSpPr>
        <p:spPr bwMode="auto">
          <a:xfrm>
            <a:off x="54864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400"/>
          </a:p>
        </p:txBody>
      </p:sp>
      <p:sp>
        <p:nvSpPr>
          <p:cNvPr id="398038144" name="Text 12"/>
          <p:cNvSpPr txBox="1"/>
          <p:nvPr/>
        </p:nvSpPr>
        <p:spPr bwMode="auto">
          <a:xfrm>
            <a:off x="1143000" y="3429000"/>
            <a:ext cx="10424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gains aren't free.  </a:t>
            </a:r>
            <a:r>
              <a:rPr lang="en-US" sz="2000">
                <a:solidFill>
                  <a:srgbClr val="C7D9E5"/>
                </a:solidFill>
                <a:latin typeface="Calibri"/>
                <a:ea typeface="Calibri"/>
                <a:cs typeface="Calibri"/>
              </a:rPr>
              <a:t>More compute, more memory, and less interpretability come with every model you add to the mix.</a:t>
            </a:r>
            <a:endParaRPr sz="2000"/>
          </a:p>
        </p:txBody>
      </p:sp>
      <p:sp>
        <p:nvSpPr>
          <p:cNvPr id="1565733021" name="Shape 13"/>
          <p:cNvSpPr/>
          <p:nvPr/>
        </p:nvSpPr>
        <p:spPr bwMode="auto">
          <a:xfrm>
            <a:off x="548640" y="4398264"/>
            <a:ext cx="384048" cy="38404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593442473" name="Text 14"/>
          <p:cNvSpPr txBox="1"/>
          <p:nvPr/>
        </p:nvSpPr>
        <p:spPr bwMode="auto">
          <a:xfrm>
            <a:off x="54864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400"/>
          </a:p>
        </p:txBody>
      </p:sp>
      <p:sp>
        <p:nvSpPr>
          <p:cNvPr id="1365532961" name="Text 15"/>
          <p:cNvSpPr txBox="1"/>
          <p:nvPr/>
        </p:nvSpPr>
        <p:spPr bwMode="auto">
          <a:xfrm>
            <a:off x="1143000" y="4325112"/>
            <a:ext cx="10424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Always benchmark against a single well-tuned model first.  </a:t>
            </a:r>
            <a:r>
              <a:rPr lang="en-US" sz="2000">
                <a:solidFill>
                  <a:srgbClr val="C7D9E5"/>
                </a:solidFill>
                <a:latin typeface="Calibri"/>
                <a:ea typeface="Calibri"/>
                <a:cs typeface="Calibri"/>
              </a:rPr>
              <a:t>If the ensemble's edge doesn't clear that bar, the added complexity usually isn't worth shipping.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2026-09-18T03:51:20Z</dcterms:created>
  <dcterms:modified xsi:type="dcterms:W3CDTF">2026-09-21T03:18:43Z</dcterms:modified>
</cp:coreProperties>
</file>