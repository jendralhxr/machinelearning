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508174" name="Google Shape;3;n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438824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51542" name="Google Shape;81;p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77657515" name="Google Shape;82;p1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4484664" name="Google Shape;89;p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2954173" name="Google Shape;90;p2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7591051" name="Google Shape;113;p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5719189" name="Google Shape;114;p3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058517" name="Google Shape;136;p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90957712" name="Google Shape;137;p4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0960347" name="Google Shape;152;p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76875067" name="Google Shape;153;p5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4276536" name="Google Shape;177;p6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70823819" name="Google Shape;178;p6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097263" name="Google Shape;194;p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44421413" name="Google Shape;195;p8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182722" name="Google Shape;211;p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42692765" name="Google Shape;212;p9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683755" name="Google Shape;225;p1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39558486" name="Google Shape;226;p12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2465110" name="Google Shape;12;p2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6306356" name="Google Shape;13;p2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90642102" name="Google Shape;14;p2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9784235" name="Google Shape;16;p3"/>
          <p:cNvSpPr txBox="1"/>
          <p:nvPr>
            <p:ph type="ctrTitle"/>
          </p:nvPr>
        </p:nvSpPr>
        <p:spPr bwMode="auto"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13488549" name="Google Shape;17;p3"/>
          <p:cNvSpPr txBox="1"/>
          <p:nvPr>
            <p:ph type="subTitle" idx="1"/>
          </p:nvPr>
        </p:nvSpPr>
        <p:spPr bwMode="auto">
          <a:xfrm>
            <a:off x="1371600" y="3886200"/>
            <a:ext cx="6400800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15036145" name="Google Shape;18;p3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62060752" name="Google Shape;19;p3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76146395" name="Google Shape;20;p3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443709" name="Google Shape;22;p4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47679624" name="Google Shape;23;p4"/>
          <p:cNvSpPr txBox="1"/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06762975" name="Google Shape;24;p4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41664082" name="Google Shape;25;p4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52581931" name="Google Shape;26;p4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772138" name="Google Shape;28;p5"/>
          <p:cNvSpPr txBox="1"/>
          <p:nvPr>
            <p:ph type="title"/>
          </p:nvPr>
        </p:nvSpPr>
        <p:spPr bwMode="auto"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19703465" name="Google Shape;29;p5"/>
          <p:cNvSpPr txBox="1"/>
          <p:nvPr>
            <p:ph type="body" idx="1"/>
          </p:nvPr>
        </p:nvSpPr>
        <p:spPr bwMode="auto"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575629260" name="Google Shape;30;p5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90820121" name="Google Shape;31;p5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4187994" name="Google Shape;32;p5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1278947" name="Google Shape;34;p6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80719342" name="Google Shape;35;p6"/>
          <p:cNvSpPr txBox="1"/>
          <p:nvPr>
            <p:ph type="body" idx="1"/>
          </p:nvPr>
        </p:nvSpPr>
        <p:spPr bwMode="auto"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800955373" name="Google Shape;36;p6"/>
          <p:cNvSpPr txBox="1"/>
          <p:nvPr>
            <p:ph type="body" idx="2"/>
          </p:nvPr>
        </p:nvSpPr>
        <p:spPr bwMode="auto"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669344565" name="Google Shape;37;p6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5662030" name="Google Shape;38;p6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22283080" name="Google Shape;39;p6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4899770" name="Google Shape;41;p7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12701592" name="Google Shape;42;p7"/>
          <p:cNvSpPr txBox="1"/>
          <p:nvPr>
            <p:ph type="body" idx="1"/>
          </p:nvPr>
        </p:nvSpPr>
        <p:spPr bwMode="auto"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960859645" name="Google Shape;43;p7"/>
          <p:cNvSpPr txBox="1"/>
          <p:nvPr>
            <p:ph type="body" idx="2"/>
          </p:nvPr>
        </p:nvSpPr>
        <p:spPr bwMode="auto"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846241216" name="Google Shape;44;p7"/>
          <p:cNvSpPr txBox="1"/>
          <p:nvPr>
            <p:ph type="body" idx="3"/>
          </p:nvPr>
        </p:nvSpPr>
        <p:spPr bwMode="auto"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592140196" name="Google Shape;45;p7"/>
          <p:cNvSpPr txBox="1"/>
          <p:nvPr>
            <p:ph type="body" idx="4"/>
          </p:nvPr>
        </p:nvSpPr>
        <p:spPr bwMode="auto"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715880900" name="Google Shape;46;p7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4386155" name="Google Shape;47;p7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07718037" name="Google Shape;48;p7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824369" name="Google Shape;50;p8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19674386" name="Google Shape;51;p8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77775704" name="Google Shape;52;p8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19909043" name="Google Shape;53;p8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912296" name="Google Shape;55;p9"/>
          <p:cNvSpPr txBox="1"/>
          <p:nvPr>
            <p:ph type="title"/>
          </p:nvPr>
        </p:nvSpPr>
        <p:spPr bwMode="auto"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09478565" name="Google Shape;56;p9"/>
          <p:cNvSpPr txBox="1"/>
          <p:nvPr>
            <p:ph type="body" idx="1"/>
          </p:nvPr>
        </p:nvSpPr>
        <p:spPr bwMode="auto"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363249434" name="Google Shape;57;p9"/>
          <p:cNvSpPr txBox="1"/>
          <p:nvPr>
            <p:ph type="body" idx="2"/>
          </p:nvPr>
        </p:nvSpPr>
        <p:spPr bwMode="auto"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1948974525" name="Google Shape;58;p9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6785992" name="Google Shape;59;p9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9327486" name="Google Shape;60;p9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605532" name="Google Shape;62;p10"/>
          <p:cNvSpPr txBox="1"/>
          <p:nvPr>
            <p:ph type="title"/>
          </p:nvPr>
        </p:nvSpPr>
        <p:spPr bwMode="auto"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60013345" name="Google Shape;63;p10"/>
          <p:cNvSpPr/>
          <p:nvPr>
            <p:ph type="pic" idx="2"/>
          </p:nvPr>
        </p:nvSpPr>
        <p:spPr bwMode="auto"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57027885" name="Google Shape;64;p10"/>
          <p:cNvSpPr txBox="1"/>
          <p:nvPr>
            <p:ph type="body" idx="1"/>
          </p:nvPr>
        </p:nvSpPr>
        <p:spPr bwMode="auto"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1369601739" name="Google Shape;65;p10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41565339" name="Google Shape;66;p10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01944592" name="Google Shape;67;p10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299705" name="Google Shape;69;p11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1936333" name="Google Shape;70;p11"/>
          <p:cNvSpPr txBox="1"/>
          <p:nvPr>
            <p:ph type="body" idx="1"/>
          </p:nvPr>
        </p:nvSpPr>
        <p:spPr bwMode="auto"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6166409" name="Google Shape;71;p11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41560354" name="Google Shape;72;p11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00712882" name="Google Shape;73;p11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691003" name="Google Shape;75;p12"/>
          <p:cNvSpPr txBox="1"/>
          <p:nvPr>
            <p:ph type="title"/>
          </p:nvPr>
        </p:nvSpPr>
        <p:spPr bwMode="auto"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01819820" name="Google Shape;76;p12"/>
          <p:cNvSpPr txBox="1"/>
          <p:nvPr>
            <p:ph type="body" idx="1"/>
          </p:nvPr>
        </p:nvSpPr>
        <p:spPr bwMode="auto"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2490883" name="Google Shape;77;p12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59956079" name="Google Shape;78;p12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15930864" name="Google Shape;79;p12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676852" name="Google Shape;6;p1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472893533" name="Google Shape;7;p1"/>
          <p:cNvSpPr txBox="1"/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799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18136980" name="Google Shape;8;p1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933682364" name="Google Shape;9;p1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4153722" name="Google Shape;10;p1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90D1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678671" name="Google Shape;84;p13"/>
          <p:cNvSpPr/>
          <p:nvPr/>
        </p:nvSpPr>
        <p:spPr bwMode="auto">
          <a:xfrm>
            <a:off x="609600" y="1672679"/>
            <a:ext cx="2095500" cy="28575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0798780" name="Google Shape;85;p13"/>
          <p:cNvSpPr txBox="1"/>
          <p:nvPr/>
        </p:nvSpPr>
        <p:spPr bwMode="auto">
          <a:xfrm>
            <a:off x="609600" y="2187029"/>
            <a:ext cx="9101137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2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</a:rPr>
              <a:t>From Pathfinding to Reinforcement Learning</a:t>
            </a:r>
            <a:endParaRPr/>
          </a:p>
        </p:txBody>
      </p:sp>
      <p:sp>
        <p:nvSpPr>
          <p:cNvPr id="1528522671" name="Google Shape;86;p13"/>
          <p:cNvSpPr txBox="1"/>
          <p:nvPr/>
        </p:nvSpPr>
        <p:spPr bwMode="auto">
          <a:xfrm>
            <a:off x="609600" y="3588990"/>
            <a:ext cx="6953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Unifying traditional ML loss functions, greedy heuristics</a:t>
            </a:r>
            <a:endParaRPr/>
          </a:p>
        </p:txBody>
      </p:sp>
      <p:sp>
        <p:nvSpPr>
          <p:cNvPr id="1713527242" name="Google Shape;87;p13"/>
          <p:cNvSpPr txBox="1"/>
          <p:nvPr/>
        </p:nvSpPr>
        <p:spPr bwMode="auto">
          <a:xfrm>
            <a:off x="742950" y="1729829"/>
            <a:ext cx="1924200" cy="161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Machine Learning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122905" name="Google Shape;92;p14"/>
          <p:cNvSpPr/>
          <p:nvPr/>
        </p:nvSpPr>
        <p:spPr bwMode="auto">
          <a:xfrm>
            <a:off x="609600" y="2693789"/>
            <a:ext cx="3498800" cy="2489596"/>
          </a:xfrm>
          <a:prstGeom prst="roundRect">
            <a:avLst>
              <a:gd name="adj" fmla="val 459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5912443" name="Google Shape;93;p14"/>
          <p:cNvSpPr/>
          <p:nvPr/>
        </p:nvSpPr>
        <p:spPr bwMode="auto">
          <a:xfrm>
            <a:off x="4337000" y="2693789"/>
            <a:ext cx="3498800" cy="2489596"/>
          </a:xfrm>
          <a:prstGeom prst="roundRect">
            <a:avLst>
              <a:gd name="adj" fmla="val 459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2943653" name="Google Shape;94;p14"/>
          <p:cNvSpPr/>
          <p:nvPr/>
        </p:nvSpPr>
        <p:spPr bwMode="auto">
          <a:xfrm>
            <a:off x="8064400" y="2693789"/>
            <a:ext cx="3517850" cy="2489596"/>
          </a:xfrm>
          <a:prstGeom prst="roundRect">
            <a:avLst>
              <a:gd name="adj" fmla="val 4591"/>
            </a:avLst>
          </a:prstGeom>
          <a:solidFill>
            <a:srgbClr val="FFFFFF"/>
          </a:solidFill>
          <a:ln w="1905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158991725" name="Google Shape;95;p14" descr="image.png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923925" y="300811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326222" name="Google Shape;96;p14" descr="image.png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4651325" y="300811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047960" name="Google Shape;97;p14" descr="image.png"/>
          <p:cNvPicPr/>
          <p:nvPr/>
        </p:nvPicPr>
        <p:blipFill>
          <a:blip r:embed="rId5">
            <a:alphaModFix/>
          </a:blip>
          <a:srcRect l="0" t="0" r="0" b="0"/>
          <a:stretch/>
        </p:blipFill>
        <p:spPr bwMode="auto">
          <a:xfrm>
            <a:off x="8388250" y="301763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4825609" name="Google Shape;98;p14" descr="image.png"/>
          <p:cNvPicPr/>
          <p:nvPr/>
        </p:nvPicPr>
        <p:blipFill>
          <a:blip r:embed="rId6">
            <a:alphaModFix/>
          </a:blip>
          <a:srcRect l="0" t="0" r="0" b="0"/>
          <a:stretch/>
        </p:blipFill>
        <p:spPr bwMode="auto">
          <a:xfrm>
            <a:off x="1047750" y="3131939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136948" name="Google Shape;99;p14" descr="image.png"/>
          <p:cNvPicPr/>
          <p:nvPr/>
        </p:nvPicPr>
        <p:blipFill>
          <a:blip r:embed="rId7">
            <a:alphaModFix/>
          </a:blip>
          <a:srcRect l="0" t="0" r="0" b="0"/>
          <a:stretch/>
        </p:blipFill>
        <p:spPr bwMode="auto">
          <a:xfrm>
            <a:off x="4760861" y="3131939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075634" name="Google Shape;100;p14" descr="image.png"/>
          <p:cNvPicPr/>
          <p:nvPr/>
        </p:nvPicPr>
        <p:blipFill>
          <a:blip r:embed="rId8">
            <a:alphaModFix/>
          </a:blip>
          <a:srcRect l="0" t="0" r="0" b="0"/>
          <a:stretch/>
        </p:blipFill>
        <p:spPr bwMode="auto">
          <a:xfrm>
            <a:off x="8483500" y="3141464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2122223" name="Google Shape;101;p14"/>
          <p:cNvSpPr txBox="1"/>
          <p:nvPr/>
        </p:nvSpPr>
        <p:spPr bwMode="auto"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</a:rPr>
              <a:t>CORE FRAMEWORKS</a:t>
            </a:r>
            <a:endParaRPr/>
          </a:p>
        </p:txBody>
      </p:sp>
      <p:sp>
        <p:nvSpPr>
          <p:cNvPr id="817231366" name="Google Shape;102;p14"/>
          <p:cNvSpPr txBox="1"/>
          <p:nvPr/>
        </p:nvSpPr>
        <p:spPr bwMode="auto">
          <a:xfrm>
            <a:off x="609600" y="771525"/>
            <a:ext cx="11582400" cy="438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Three Paradigms of Machine Learning</a:t>
            </a:r>
            <a:endParaRPr/>
          </a:p>
        </p:txBody>
      </p:sp>
      <p:sp>
        <p:nvSpPr>
          <p:cNvPr id="1908336107" name="Google Shape;103;p14"/>
          <p:cNvSpPr txBox="1"/>
          <p:nvPr/>
        </p:nvSpPr>
        <p:spPr bwMode="auto">
          <a:xfrm>
            <a:off x="923925" y="3655814"/>
            <a:ext cx="376707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Supervised</a:t>
            </a:r>
            <a:endParaRPr/>
          </a:p>
        </p:txBody>
      </p:sp>
      <p:sp>
        <p:nvSpPr>
          <p:cNvPr id="207958898" name="Google Shape;104;p14"/>
          <p:cNvSpPr txBox="1"/>
          <p:nvPr/>
        </p:nvSpPr>
        <p:spPr bwMode="auto">
          <a:xfrm>
            <a:off x="923925" y="4017764"/>
            <a:ext cx="35876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Direct Instruction</a:t>
            </a:r>
            <a:endParaRPr/>
          </a:p>
        </p:txBody>
      </p:sp>
      <p:sp>
        <p:nvSpPr>
          <p:cNvPr id="2045225035" name="Google Shape;105;p14"/>
          <p:cNvSpPr txBox="1"/>
          <p:nvPr/>
        </p:nvSpPr>
        <p:spPr bwMode="auto">
          <a:xfrm>
            <a:off x="923925" y="4370189"/>
            <a:ext cx="29654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Explicit ground truth labels provided for every input example.</a:t>
            </a:r>
            <a:endParaRPr/>
          </a:p>
        </p:txBody>
      </p:sp>
      <p:sp>
        <p:nvSpPr>
          <p:cNvPr id="322054894" name="Google Shape;106;p14"/>
          <p:cNvSpPr txBox="1"/>
          <p:nvPr/>
        </p:nvSpPr>
        <p:spPr bwMode="auto">
          <a:xfrm>
            <a:off x="4651325" y="3655814"/>
            <a:ext cx="376707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Unsupervised</a:t>
            </a:r>
            <a:endParaRPr/>
          </a:p>
        </p:txBody>
      </p:sp>
      <p:sp>
        <p:nvSpPr>
          <p:cNvPr id="552908321" name="Google Shape;107;p14"/>
          <p:cNvSpPr txBox="1"/>
          <p:nvPr/>
        </p:nvSpPr>
        <p:spPr bwMode="auto">
          <a:xfrm>
            <a:off x="4651325" y="4017764"/>
            <a:ext cx="35876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Pattern Discovery</a:t>
            </a:r>
            <a:endParaRPr/>
          </a:p>
        </p:txBody>
      </p:sp>
      <p:sp>
        <p:nvSpPr>
          <p:cNvPr id="1797931214" name="Google Shape;108;p14"/>
          <p:cNvSpPr txBox="1"/>
          <p:nvPr/>
        </p:nvSpPr>
        <p:spPr bwMode="auto">
          <a:xfrm>
            <a:off x="4651325" y="4370189"/>
            <a:ext cx="29654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Uncovering inherent structure in unlabeled data collections.</a:t>
            </a:r>
            <a:endParaRPr/>
          </a:p>
        </p:txBody>
      </p:sp>
      <p:sp>
        <p:nvSpPr>
          <p:cNvPr id="469839623" name="Google Shape;109;p14"/>
          <p:cNvSpPr txBox="1"/>
          <p:nvPr/>
        </p:nvSpPr>
        <p:spPr bwMode="auto">
          <a:xfrm>
            <a:off x="8388250" y="3665339"/>
            <a:ext cx="376707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Reinforcement</a:t>
            </a:r>
            <a:endParaRPr/>
          </a:p>
        </p:txBody>
      </p:sp>
      <p:sp>
        <p:nvSpPr>
          <p:cNvPr id="447976160" name="Google Shape;110;p14"/>
          <p:cNvSpPr txBox="1"/>
          <p:nvPr/>
        </p:nvSpPr>
        <p:spPr bwMode="auto">
          <a:xfrm>
            <a:off x="8388250" y="4027289"/>
            <a:ext cx="35876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</a:rPr>
              <a:t>Trial &amp; Feedback</a:t>
            </a:r>
            <a:endParaRPr/>
          </a:p>
        </p:txBody>
      </p:sp>
      <p:sp>
        <p:nvSpPr>
          <p:cNvPr id="1691955332" name="Google Shape;111;p14"/>
          <p:cNvSpPr txBox="1"/>
          <p:nvPr/>
        </p:nvSpPr>
        <p:spPr bwMode="auto">
          <a:xfrm>
            <a:off x="8388250" y="4379714"/>
            <a:ext cx="29654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Sequential decision making guided by dynamic reward signals.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841214" name="Google Shape;116;p15"/>
          <p:cNvSpPr/>
          <p:nvPr/>
        </p:nvSpPr>
        <p:spPr bwMode="auto">
          <a:xfrm>
            <a:off x="5981700" y="2803773"/>
            <a:ext cx="5600700" cy="2231528"/>
          </a:xfrm>
          <a:prstGeom prst="roundRect">
            <a:avLst>
              <a:gd name="adj" fmla="val 5122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65415499" name="Google Shape;117;p15"/>
          <p:cNvSpPr/>
          <p:nvPr/>
        </p:nvSpPr>
        <p:spPr bwMode="auto">
          <a:xfrm>
            <a:off x="609600" y="2128837"/>
            <a:ext cx="4991100" cy="1066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6731289" name="Google Shape;118;p15"/>
          <p:cNvSpPr/>
          <p:nvPr/>
        </p:nvSpPr>
        <p:spPr bwMode="auto">
          <a:xfrm>
            <a:off x="609600" y="3386137"/>
            <a:ext cx="4991100" cy="1066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6314625" name="Google Shape;119;p15"/>
          <p:cNvSpPr/>
          <p:nvPr/>
        </p:nvSpPr>
        <p:spPr bwMode="auto">
          <a:xfrm>
            <a:off x="609600" y="4643437"/>
            <a:ext cx="4991100" cy="1066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73083361" name="Google Shape;120;p15"/>
          <p:cNvSpPr/>
          <p:nvPr/>
        </p:nvSpPr>
        <p:spPr bwMode="auto">
          <a:xfrm>
            <a:off x="609600" y="2128837"/>
            <a:ext cx="38100" cy="1066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59145334" name="Google Shape;121;p15"/>
          <p:cNvSpPr/>
          <p:nvPr/>
        </p:nvSpPr>
        <p:spPr bwMode="auto">
          <a:xfrm>
            <a:off x="609600" y="3386137"/>
            <a:ext cx="38100" cy="1066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40448283" name="Google Shape;122;p15"/>
          <p:cNvSpPr/>
          <p:nvPr/>
        </p:nvSpPr>
        <p:spPr bwMode="auto">
          <a:xfrm>
            <a:off x="609600" y="4643437"/>
            <a:ext cx="38100" cy="1066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973843819" name="Google Shape;123;p15" descr="image.png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6286500" y="3432423"/>
            <a:ext cx="4991100" cy="536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0723917" name="Google Shape;124;p15" descr="image.png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6286500" y="4521844"/>
            <a:ext cx="4991100" cy="208657"/>
          </a:xfrm>
          <a:prstGeom prst="rect">
            <a:avLst/>
          </a:prstGeom>
          <a:noFill/>
          <a:ln>
            <a:noFill/>
          </a:ln>
        </p:spPr>
      </p:pic>
      <p:sp>
        <p:nvSpPr>
          <p:cNvPr id="2123082787" name="Google Shape;125;p15"/>
          <p:cNvSpPr txBox="1"/>
          <p:nvPr/>
        </p:nvSpPr>
        <p:spPr bwMode="auto"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</a:rPr>
              <a:t>SUPERVISED MECHANICS</a:t>
            </a:r>
            <a:endParaRPr/>
          </a:p>
        </p:txBody>
      </p:sp>
      <p:sp>
        <p:nvSpPr>
          <p:cNvPr id="1641186838" name="Google Shape;126;p15"/>
          <p:cNvSpPr txBox="1"/>
          <p:nvPr/>
        </p:nvSpPr>
        <p:spPr bwMode="auto">
          <a:xfrm>
            <a:off x="609600" y="771525"/>
            <a:ext cx="11582400" cy="438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Loss Functions in Traditional ML</a:t>
            </a:r>
            <a:endParaRPr/>
          </a:p>
        </p:txBody>
      </p:sp>
      <p:sp>
        <p:nvSpPr>
          <p:cNvPr id="1096508026" name="Google Shape;127;p15"/>
          <p:cNvSpPr txBox="1"/>
          <p:nvPr/>
        </p:nvSpPr>
        <p:spPr bwMode="auto">
          <a:xfrm>
            <a:off x="6286500" y="3108573"/>
            <a:ext cx="5905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// Mean Squared Error Loss</a:t>
            </a:r>
            <a:endParaRPr/>
          </a:p>
        </p:txBody>
      </p:sp>
      <p:sp>
        <p:nvSpPr>
          <p:cNvPr id="1578924342" name="Google Shape;128;p15"/>
          <p:cNvSpPr txBox="1"/>
          <p:nvPr/>
        </p:nvSpPr>
        <p:spPr bwMode="auto">
          <a:xfrm>
            <a:off x="6286500" y="4236094"/>
            <a:ext cx="5905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// Parameter Update Rule</a:t>
            </a:r>
            <a:endParaRPr/>
          </a:p>
        </p:txBody>
      </p:sp>
      <p:sp>
        <p:nvSpPr>
          <p:cNvPr id="1650418935" name="Google Shape;129;p15"/>
          <p:cNvSpPr txBox="1"/>
          <p:nvPr/>
        </p:nvSpPr>
        <p:spPr bwMode="auto">
          <a:xfrm>
            <a:off x="838200" y="2319337"/>
            <a:ext cx="6000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Static Error Measurement</a:t>
            </a:r>
            <a:endParaRPr/>
          </a:p>
        </p:txBody>
      </p:sp>
      <p:sp>
        <p:nvSpPr>
          <p:cNvPr id="536244087" name="Google Shape;130;p15"/>
          <p:cNvSpPr txBox="1"/>
          <p:nvPr/>
        </p:nvSpPr>
        <p:spPr bwMode="auto">
          <a:xfrm>
            <a:off x="838200" y="2605087"/>
            <a:ext cx="4667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Calculates instantaneous distance between prediction and fixed targets.</a:t>
            </a:r>
            <a:endParaRPr/>
          </a:p>
        </p:txBody>
      </p:sp>
      <p:sp>
        <p:nvSpPr>
          <p:cNvPr id="1869725093" name="Google Shape;131;p15"/>
          <p:cNvSpPr txBox="1"/>
          <p:nvPr/>
        </p:nvSpPr>
        <p:spPr bwMode="auto">
          <a:xfrm>
            <a:off x="838200" y="3576637"/>
            <a:ext cx="6000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Gradient Descent Optimization</a:t>
            </a:r>
            <a:endParaRPr/>
          </a:p>
        </p:txBody>
      </p:sp>
      <p:sp>
        <p:nvSpPr>
          <p:cNvPr id="1155520445" name="Google Shape;132;p15"/>
          <p:cNvSpPr txBox="1"/>
          <p:nvPr/>
        </p:nvSpPr>
        <p:spPr bwMode="auto">
          <a:xfrm>
            <a:off x="838200" y="3862387"/>
            <a:ext cx="4667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Adjusts model parameters along steepest directional error gradient.</a:t>
            </a:r>
            <a:endParaRPr/>
          </a:p>
        </p:txBody>
      </p:sp>
      <p:sp>
        <p:nvSpPr>
          <p:cNvPr id="186557197" name="Google Shape;133;p15"/>
          <p:cNvSpPr txBox="1"/>
          <p:nvPr/>
        </p:nvSpPr>
        <p:spPr bwMode="auto">
          <a:xfrm>
            <a:off x="838200" y="4833937"/>
            <a:ext cx="6000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Key Limitation</a:t>
            </a:r>
            <a:endParaRPr/>
          </a:p>
        </p:txBody>
      </p:sp>
      <p:sp>
        <p:nvSpPr>
          <p:cNvPr id="303412961" name="Google Shape;134;p15"/>
          <p:cNvSpPr txBox="1"/>
          <p:nvPr/>
        </p:nvSpPr>
        <p:spPr bwMode="auto">
          <a:xfrm>
            <a:off x="838200" y="5119687"/>
            <a:ext cx="4667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Requires instantaneous ground truth; cannot evaluate sequential actions.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351581" name="Google Shape;139;p16"/>
          <p:cNvSpPr/>
          <p:nvPr/>
        </p:nvSpPr>
        <p:spPr bwMode="auto">
          <a:xfrm>
            <a:off x="609600" y="1957387"/>
            <a:ext cx="5286375" cy="1181099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644200" name="Google Shape;140;p16"/>
          <p:cNvSpPr/>
          <p:nvPr/>
        </p:nvSpPr>
        <p:spPr bwMode="auto">
          <a:xfrm>
            <a:off x="609600" y="3328987"/>
            <a:ext cx="5286375" cy="1181099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2460108" name="Google Shape;141;p16"/>
          <p:cNvSpPr/>
          <p:nvPr/>
        </p:nvSpPr>
        <p:spPr bwMode="auto">
          <a:xfrm>
            <a:off x="609600" y="4700587"/>
            <a:ext cx="5286375" cy="1181099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04626764" name="Google Shape;142;p16"/>
          <p:cNvSpPr txBox="1"/>
          <p:nvPr/>
        </p:nvSpPr>
        <p:spPr bwMode="auto"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</a:rPr>
              <a:t>EXACT GRAPH SEARCH</a:t>
            </a:r>
            <a:endParaRPr/>
          </a:p>
        </p:txBody>
      </p:sp>
      <p:sp>
        <p:nvSpPr>
          <p:cNvPr id="193181627" name="Google Shape;143;p16"/>
          <p:cNvSpPr txBox="1"/>
          <p:nvPr/>
        </p:nvSpPr>
        <p:spPr bwMode="auto">
          <a:xfrm>
            <a:off x="609600" y="771525"/>
            <a:ext cx="11582400" cy="438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Deterministic Pathfinding: Dijkstra</a:t>
            </a:r>
            <a:endParaRPr/>
          </a:p>
        </p:txBody>
      </p:sp>
      <p:sp>
        <p:nvSpPr>
          <p:cNvPr id="878600387" name="Google Shape;144;p16"/>
          <p:cNvSpPr txBox="1"/>
          <p:nvPr/>
        </p:nvSpPr>
        <p:spPr bwMode="auto">
          <a:xfrm>
            <a:off x="847725" y="2195512"/>
            <a:ext cx="631328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</a:rPr>
              <a:t>Full Model Assumption</a:t>
            </a:r>
            <a:endParaRPr/>
          </a:p>
        </p:txBody>
      </p:sp>
      <p:sp>
        <p:nvSpPr>
          <p:cNvPr id="581391304" name="Google Shape;145;p16"/>
          <p:cNvSpPr txBox="1"/>
          <p:nvPr/>
        </p:nvSpPr>
        <p:spPr bwMode="auto">
          <a:xfrm>
            <a:off x="847725" y="2500312"/>
            <a:ext cx="49053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Requires a fully known graph with static edge weights given upfront.</a:t>
            </a:r>
            <a:endParaRPr/>
          </a:p>
        </p:txBody>
      </p:sp>
      <p:sp>
        <p:nvSpPr>
          <p:cNvPr id="1719252281" name="Google Shape;146;p16"/>
          <p:cNvSpPr txBox="1"/>
          <p:nvPr/>
        </p:nvSpPr>
        <p:spPr bwMode="auto">
          <a:xfrm>
            <a:off x="847725" y="3567112"/>
            <a:ext cx="631328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</a:rPr>
              <a:t>Guaranteed Optimality</a:t>
            </a:r>
            <a:endParaRPr/>
          </a:p>
        </p:txBody>
      </p:sp>
      <p:sp>
        <p:nvSpPr>
          <p:cNvPr id="1015941549" name="Google Shape;147;p16"/>
          <p:cNvSpPr txBox="1"/>
          <p:nvPr/>
        </p:nvSpPr>
        <p:spPr bwMode="auto">
          <a:xfrm>
            <a:off x="847725" y="3871912"/>
            <a:ext cx="49053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Computes exact shortest path without sampling or trial-and-error.</a:t>
            </a:r>
            <a:endParaRPr/>
          </a:p>
        </p:txBody>
      </p:sp>
      <p:sp>
        <p:nvSpPr>
          <p:cNvPr id="360388268" name="Google Shape;148;p16"/>
          <p:cNvSpPr txBox="1"/>
          <p:nvPr/>
        </p:nvSpPr>
        <p:spPr bwMode="auto">
          <a:xfrm>
            <a:off x="847725" y="4938712"/>
            <a:ext cx="631328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</a:rPr>
              <a:t>Core Update Rule</a:t>
            </a:r>
            <a:endParaRPr/>
          </a:p>
        </p:txBody>
      </p:sp>
      <p:sp>
        <p:nvSpPr>
          <p:cNvPr id="2102102729" name="Google Shape;149;p16"/>
          <p:cNvSpPr txBox="1"/>
          <p:nvPr/>
        </p:nvSpPr>
        <p:spPr bwMode="auto">
          <a:xfrm>
            <a:off x="847725" y="5243512"/>
            <a:ext cx="49053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Dynamic programming relaxation: d(v) = min(d(v), d(u) + w(u,v)).</a:t>
            </a:r>
            <a:endParaRPr/>
          </a:p>
        </p:txBody>
      </p:sp>
      <p:pic>
        <p:nvPicPr>
          <p:cNvPr id="1326135644" name="Google Shape;150;p16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7161013" y="1400162"/>
            <a:ext cx="3660075" cy="503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153384" name="Google Shape;155;p17"/>
          <p:cNvSpPr/>
          <p:nvPr/>
        </p:nvSpPr>
        <p:spPr bwMode="auto">
          <a:xfrm>
            <a:off x="609600" y="4592835"/>
            <a:ext cx="10972800" cy="85725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17237530" name="Google Shape;156;p17"/>
          <p:cNvSpPr/>
          <p:nvPr/>
        </p:nvSpPr>
        <p:spPr bwMode="auto">
          <a:xfrm>
            <a:off x="609600" y="2388989"/>
            <a:ext cx="3505199" cy="1975246"/>
          </a:xfrm>
          <a:prstGeom prst="roundRect">
            <a:avLst>
              <a:gd name="adj" fmla="val 578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54751065" name="Google Shape;157;p17"/>
          <p:cNvSpPr/>
          <p:nvPr/>
        </p:nvSpPr>
        <p:spPr bwMode="auto">
          <a:xfrm>
            <a:off x="4343400" y="2388989"/>
            <a:ext cx="3505199" cy="1975246"/>
          </a:xfrm>
          <a:prstGeom prst="roundRect">
            <a:avLst>
              <a:gd name="adj" fmla="val 578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5111046" name="Google Shape;158;p17"/>
          <p:cNvSpPr/>
          <p:nvPr/>
        </p:nvSpPr>
        <p:spPr bwMode="auto">
          <a:xfrm>
            <a:off x="8077200" y="2388989"/>
            <a:ext cx="3505199" cy="1975246"/>
          </a:xfrm>
          <a:prstGeom prst="roundRect">
            <a:avLst>
              <a:gd name="adj" fmla="val 578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5120388" name="Google Shape;159;p17"/>
          <p:cNvSpPr/>
          <p:nvPr/>
        </p:nvSpPr>
        <p:spPr bwMode="auto">
          <a:xfrm>
            <a:off x="885825" y="2665214"/>
            <a:ext cx="1114425" cy="238125"/>
          </a:xfrm>
          <a:prstGeom prst="roundRect">
            <a:avLst>
              <a:gd name="adj" fmla="val 16000"/>
            </a:avLst>
          </a:prstGeom>
          <a:solidFill>
            <a:srgbClr val="FEE2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62965949" name="Google Shape;160;p17"/>
          <p:cNvSpPr/>
          <p:nvPr/>
        </p:nvSpPr>
        <p:spPr bwMode="auto">
          <a:xfrm>
            <a:off x="4619625" y="2665214"/>
            <a:ext cx="876299" cy="238125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5779258" name="Google Shape;161;p17"/>
          <p:cNvSpPr/>
          <p:nvPr/>
        </p:nvSpPr>
        <p:spPr bwMode="auto">
          <a:xfrm>
            <a:off x="8353425" y="2665214"/>
            <a:ext cx="1628775" cy="238125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73751403" name="Google Shape;162;p17" descr="image.png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11077575" y="490716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268459" name="Google Shape;163;p17"/>
          <p:cNvSpPr txBox="1"/>
          <p:nvPr/>
        </p:nvSpPr>
        <p:spPr bwMode="auto"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</a:rPr>
              <a:t>UNCERTAIN ENVIRONMENTS</a:t>
            </a:r>
            <a:endParaRPr/>
          </a:p>
        </p:txBody>
      </p:sp>
      <p:sp>
        <p:nvSpPr>
          <p:cNvPr id="595133046" name="Google Shape;164;p17"/>
          <p:cNvSpPr txBox="1"/>
          <p:nvPr/>
        </p:nvSpPr>
        <p:spPr bwMode="auto">
          <a:xfrm>
            <a:off x="609600" y="771525"/>
            <a:ext cx="11582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When </a:t>
            </a:r>
            <a:r>
              <a:rPr lang="en-US" sz="27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Traversal</a:t>
            </a: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 Costs Are Unknown</a:t>
            </a:r>
            <a:endParaRPr/>
          </a:p>
        </p:txBody>
      </p:sp>
      <p:sp>
        <p:nvSpPr>
          <p:cNvPr id="273325865" name="Google Shape;165;p17"/>
          <p:cNvSpPr txBox="1"/>
          <p:nvPr/>
        </p:nvSpPr>
        <p:spPr bwMode="auto">
          <a:xfrm>
            <a:off x="981075" y="2703314"/>
            <a:ext cx="1019174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1" i="0" u="none" strike="noStrike" cap="none">
                <a:solidFill>
                  <a:srgbClr val="DC2626"/>
                </a:solidFill>
                <a:latin typeface="Inter"/>
                <a:ea typeface="Inter"/>
                <a:cs typeface="Inter"/>
              </a:rPr>
              <a:t>PURE GREEDY</a:t>
            </a:r>
            <a:endParaRPr/>
          </a:p>
        </p:txBody>
      </p:sp>
      <p:sp>
        <p:nvSpPr>
          <p:cNvPr id="1083096348" name="Google Shape;166;p17"/>
          <p:cNvSpPr txBox="1"/>
          <p:nvPr/>
        </p:nvSpPr>
        <p:spPr bwMode="auto">
          <a:xfrm>
            <a:off x="885825" y="3017639"/>
            <a:ext cx="387548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Immediate Myopic Choices</a:t>
            </a:r>
            <a:endParaRPr/>
          </a:p>
        </p:txBody>
      </p:sp>
      <p:sp>
        <p:nvSpPr>
          <p:cNvPr id="2100099186" name="Google Shape;167;p17"/>
          <p:cNvSpPr txBox="1"/>
          <p:nvPr/>
        </p:nvSpPr>
        <p:spPr bwMode="auto">
          <a:xfrm>
            <a:off x="885825" y="3360539"/>
            <a:ext cx="30480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Always picks the local lowest-cost edge visible right now.</a:t>
            </a:r>
            <a:endParaRPr/>
          </a:p>
        </p:txBody>
      </p:sp>
      <p:sp>
        <p:nvSpPr>
          <p:cNvPr id="656297218" name="Google Shape;168;p17"/>
          <p:cNvSpPr txBox="1"/>
          <p:nvPr/>
        </p:nvSpPr>
        <p:spPr bwMode="auto">
          <a:xfrm>
            <a:off x="4714875" y="2703314"/>
            <a:ext cx="7810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TRAP RISK</a:t>
            </a:r>
            <a:endParaRPr/>
          </a:p>
        </p:txBody>
      </p:sp>
      <p:sp>
        <p:nvSpPr>
          <p:cNvPr id="2044932748" name="Google Shape;169;p17"/>
          <p:cNvSpPr txBox="1"/>
          <p:nvPr/>
        </p:nvSpPr>
        <p:spPr bwMode="auto">
          <a:xfrm>
            <a:off x="4619625" y="3017639"/>
            <a:ext cx="387548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Local Optima Lock-In</a:t>
            </a:r>
            <a:endParaRPr/>
          </a:p>
        </p:txBody>
      </p:sp>
      <p:sp>
        <p:nvSpPr>
          <p:cNvPr id="449834630" name="Google Shape;170;p17"/>
          <p:cNvSpPr txBox="1"/>
          <p:nvPr/>
        </p:nvSpPr>
        <p:spPr bwMode="auto">
          <a:xfrm>
            <a:off x="4619625" y="3360539"/>
            <a:ext cx="30480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Refuses to explore higher-cost steps that lead to global shortcuts.</a:t>
            </a:r>
            <a:endParaRPr/>
          </a:p>
        </p:txBody>
      </p:sp>
      <p:sp>
        <p:nvSpPr>
          <p:cNvPr id="1177543346" name="Google Shape;171;p17"/>
          <p:cNvSpPr txBox="1"/>
          <p:nvPr/>
        </p:nvSpPr>
        <p:spPr bwMode="auto">
          <a:xfrm>
            <a:off x="8448675" y="2703314"/>
            <a:ext cx="1533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</a:rPr>
              <a:t>STOCHASTIC SEARCH</a:t>
            </a:r>
            <a:endParaRPr/>
          </a:p>
        </p:txBody>
      </p:sp>
      <p:sp>
        <p:nvSpPr>
          <p:cNvPr id="1342356447" name="Google Shape;172;p17"/>
          <p:cNvSpPr txBox="1"/>
          <p:nvPr/>
        </p:nvSpPr>
        <p:spPr bwMode="auto">
          <a:xfrm>
            <a:off x="8353425" y="3017639"/>
            <a:ext cx="3200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Probabilistic Action Selection</a:t>
            </a:r>
            <a:endParaRPr/>
          </a:p>
        </p:txBody>
      </p:sp>
      <p:sp>
        <p:nvSpPr>
          <p:cNvPr id="130794223" name="Google Shape;173;p17"/>
          <p:cNvSpPr txBox="1"/>
          <p:nvPr/>
        </p:nvSpPr>
        <p:spPr bwMode="auto">
          <a:xfrm>
            <a:off x="8353425" y="3608189"/>
            <a:ext cx="30480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Samples actions based on estimated probability distributions.</a:t>
            </a:r>
            <a:endParaRPr/>
          </a:p>
        </p:txBody>
      </p:sp>
      <p:sp>
        <p:nvSpPr>
          <p:cNvPr id="844066134" name="Google Shape;174;p17"/>
          <p:cNvSpPr txBox="1"/>
          <p:nvPr/>
        </p:nvSpPr>
        <p:spPr bwMode="auto">
          <a:xfrm>
            <a:off x="914400" y="4821435"/>
            <a:ext cx="8191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</a:rPr>
              <a:t>The Missing Link</a:t>
            </a:r>
            <a:endParaRPr/>
          </a:p>
        </p:txBody>
      </p:sp>
      <p:sp>
        <p:nvSpPr>
          <p:cNvPr id="641197805" name="Google Shape;175;p17"/>
          <p:cNvSpPr txBox="1"/>
          <p:nvPr/>
        </p:nvSpPr>
        <p:spPr bwMode="auto">
          <a:xfrm>
            <a:off x="914400" y="5021460"/>
            <a:ext cx="8191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Unknown costs force agents to sample the world to estimate real edge weights.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466901" name="Google Shape;180;p18"/>
          <p:cNvSpPr/>
          <p:nvPr/>
        </p:nvSpPr>
        <p:spPr bwMode="auto">
          <a:xfrm>
            <a:off x="609600" y="2490787"/>
            <a:ext cx="53340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0081680" name="Google Shape;181;p18"/>
          <p:cNvSpPr/>
          <p:nvPr/>
        </p:nvSpPr>
        <p:spPr bwMode="auto">
          <a:xfrm>
            <a:off x="6248400" y="2682180"/>
            <a:ext cx="5334000" cy="2474714"/>
          </a:xfrm>
          <a:prstGeom prst="roundRect">
            <a:avLst>
              <a:gd name="adj" fmla="val 4618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0499619" name="Google Shape;182;p18"/>
          <p:cNvSpPr/>
          <p:nvPr/>
        </p:nvSpPr>
        <p:spPr bwMode="auto">
          <a:xfrm>
            <a:off x="923925" y="3976687"/>
            <a:ext cx="4705350" cy="1057275"/>
          </a:xfrm>
          <a:prstGeom prst="roundRect">
            <a:avLst>
              <a:gd name="adj" fmla="val 7207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319266499" name="Google Shape;183;p18" descr="image.png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6753225" y="4320480"/>
            <a:ext cx="4324350" cy="331589"/>
          </a:xfrm>
          <a:prstGeom prst="rect">
            <a:avLst/>
          </a:prstGeom>
          <a:noFill/>
          <a:ln>
            <a:noFill/>
          </a:ln>
        </p:spPr>
      </p:pic>
      <p:sp>
        <p:nvSpPr>
          <p:cNvPr id="48088944" name="Google Shape;184;p18"/>
          <p:cNvSpPr txBox="1"/>
          <p:nvPr/>
        </p:nvSpPr>
        <p:spPr bwMode="auto"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</a:rPr>
              <a:t>STATELESS EXPLORATION</a:t>
            </a:r>
            <a:endParaRPr/>
          </a:p>
        </p:txBody>
      </p:sp>
      <p:sp>
        <p:nvSpPr>
          <p:cNvPr id="1865187557" name="Google Shape;185;p18"/>
          <p:cNvSpPr txBox="1"/>
          <p:nvPr/>
        </p:nvSpPr>
        <p:spPr bwMode="auto">
          <a:xfrm>
            <a:off x="609600" y="771525"/>
            <a:ext cx="11582400" cy="438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Multi-Armed Bandits &amp; Monte Carlo</a:t>
            </a:r>
            <a:endParaRPr/>
          </a:p>
        </p:txBody>
      </p:sp>
      <p:sp>
        <p:nvSpPr>
          <p:cNvPr id="1678160222" name="Google Shape;186;p18"/>
          <p:cNvSpPr txBox="1"/>
          <p:nvPr/>
        </p:nvSpPr>
        <p:spPr bwMode="auto">
          <a:xfrm>
            <a:off x="923925" y="2805112"/>
            <a:ext cx="617577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</a:rPr>
              <a:t>The Fundamental Dilemma</a:t>
            </a:r>
            <a:endParaRPr/>
          </a:p>
        </p:txBody>
      </p:sp>
      <p:sp>
        <p:nvSpPr>
          <p:cNvPr id="1819579115" name="Google Shape;187;p18"/>
          <p:cNvSpPr txBox="1"/>
          <p:nvPr/>
        </p:nvSpPr>
        <p:spPr bwMode="auto">
          <a:xfrm>
            <a:off x="923925" y="3233737"/>
            <a:ext cx="4800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Exploit known slot machines with good payouts, or explore unknown machines to discover higher payouts?</a:t>
            </a:r>
            <a:endParaRPr/>
          </a:p>
        </p:txBody>
      </p:sp>
      <p:sp>
        <p:nvSpPr>
          <p:cNvPr id="423882256" name="Google Shape;188;p18"/>
          <p:cNvSpPr txBox="1"/>
          <p:nvPr/>
        </p:nvSpPr>
        <p:spPr bwMode="auto">
          <a:xfrm>
            <a:off x="6562725" y="2996505"/>
            <a:ext cx="5629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1" i="0" u="none" strike="noStrike" cap="none">
                <a:solidFill>
                  <a:srgbClr val="D97706"/>
                </a:solidFill>
                <a:latin typeface="Inter"/>
                <a:ea typeface="Inter"/>
                <a:cs typeface="Inter"/>
              </a:rPr>
              <a:t>Monte Carlo Value Estimation</a:t>
            </a:r>
            <a:endParaRPr/>
          </a:p>
        </p:txBody>
      </p:sp>
      <p:sp>
        <p:nvSpPr>
          <p:cNvPr id="795616769" name="Google Shape;189;p18"/>
          <p:cNvSpPr txBox="1"/>
          <p:nvPr/>
        </p:nvSpPr>
        <p:spPr bwMode="auto">
          <a:xfrm>
            <a:off x="6562725" y="3425130"/>
            <a:ext cx="4800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Estimates expected payout Q(a) by averaging cumulative rewards across repeated random trials.</a:t>
            </a:r>
            <a:endParaRPr/>
          </a:p>
        </p:txBody>
      </p:sp>
      <p:sp>
        <p:nvSpPr>
          <p:cNvPr id="489764337" name="Google Shape;190;p18"/>
          <p:cNvSpPr txBox="1"/>
          <p:nvPr/>
        </p:nvSpPr>
        <p:spPr bwMode="auto">
          <a:xfrm>
            <a:off x="1114425" y="4167187"/>
            <a:ext cx="540543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F172A"/>
                </a:solidFill>
                <a:latin typeface="JetBrains Mono"/>
                <a:ea typeface="JetBrains Mono"/>
                <a:cs typeface="JetBrains Mono"/>
              </a:rPr>
              <a:t>ε-Greedy Strategy:</a:t>
            </a:r>
            <a:endParaRPr/>
          </a:p>
        </p:txBody>
      </p:sp>
      <p:sp>
        <p:nvSpPr>
          <p:cNvPr id="1028561243" name="Google Shape;191;p18"/>
          <p:cNvSpPr txBox="1"/>
          <p:nvPr/>
        </p:nvSpPr>
        <p:spPr bwMode="auto">
          <a:xfrm>
            <a:off x="1114425" y="4443412"/>
            <a:ext cx="540543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475569"/>
                </a:solidFill>
                <a:latin typeface="JetBrains Mono"/>
                <a:ea typeface="JetBrains Mono"/>
                <a:cs typeface="JetBrains Mono"/>
              </a:rPr>
              <a:t>Random Action with prob ε</a:t>
            </a:r>
            <a:endParaRPr/>
          </a:p>
        </p:txBody>
      </p:sp>
      <p:sp>
        <p:nvSpPr>
          <p:cNvPr id="421378467" name="Google Shape;192;p18"/>
          <p:cNvSpPr txBox="1"/>
          <p:nvPr/>
        </p:nvSpPr>
        <p:spPr bwMode="auto">
          <a:xfrm>
            <a:off x="1114425" y="4643437"/>
            <a:ext cx="540543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475569"/>
                </a:solidFill>
                <a:latin typeface="JetBrains Mono"/>
                <a:ea typeface="JetBrains Mono"/>
                <a:cs typeface="JetBrains Mono"/>
              </a:rPr>
              <a:t>Best Known Action with prob 1 - ε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042661" name="Google Shape;197;p19"/>
          <p:cNvSpPr/>
          <p:nvPr/>
        </p:nvSpPr>
        <p:spPr bwMode="auto">
          <a:xfrm>
            <a:off x="609600" y="4227909"/>
            <a:ext cx="3505199" cy="8382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4776492" name="Google Shape;198;p19"/>
          <p:cNvSpPr/>
          <p:nvPr/>
        </p:nvSpPr>
        <p:spPr bwMode="auto">
          <a:xfrm>
            <a:off x="4343400" y="4227909"/>
            <a:ext cx="3505199" cy="8382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90042967" name="Google Shape;199;p19"/>
          <p:cNvSpPr/>
          <p:nvPr/>
        </p:nvSpPr>
        <p:spPr bwMode="auto">
          <a:xfrm>
            <a:off x="8077200" y="4227909"/>
            <a:ext cx="3505199" cy="8382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77323168" name="Google Shape;200;p19" descr="image.png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609600" y="2734716"/>
            <a:ext cx="10972800" cy="1264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2316287" name="Google Shape;201;p19" descr="image.png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2795587" y="3077616"/>
            <a:ext cx="6600676" cy="578792"/>
          </a:xfrm>
          <a:prstGeom prst="rect">
            <a:avLst/>
          </a:prstGeom>
          <a:noFill/>
          <a:ln>
            <a:noFill/>
          </a:ln>
        </p:spPr>
      </p:pic>
      <p:sp>
        <p:nvSpPr>
          <p:cNvPr id="2052131323" name="Google Shape;202;p19"/>
          <p:cNvSpPr txBox="1"/>
          <p:nvPr/>
        </p:nvSpPr>
        <p:spPr bwMode="auto">
          <a:xfrm>
            <a:off x="609600" y="533400"/>
            <a:ext cx="11582400" cy="161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REINFORCEMENT LEARNING: </a:t>
            </a: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</a:rPr>
              <a:t>MATHEMATICAL CORE</a:t>
            </a:r>
            <a:endParaRPr/>
          </a:p>
        </p:txBody>
      </p:sp>
      <p:sp>
        <p:nvSpPr>
          <p:cNvPr id="1695986373" name="Google Shape;203;p19"/>
          <p:cNvSpPr txBox="1"/>
          <p:nvPr/>
        </p:nvSpPr>
        <p:spPr bwMode="auto">
          <a:xfrm>
            <a:off x="609600" y="771525"/>
            <a:ext cx="11582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700" b="1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B</a:t>
            </a: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ellman Optimality Equation</a:t>
            </a:r>
            <a:endParaRPr/>
          </a:p>
        </p:txBody>
      </p:sp>
      <p:sp>
        <p:nvSpPr>
          <p:cNvPr id="745723109" name="Google Shape;204;p19"/>
          <p:cNvSpPr txBox="1"/>
          <p:nvPr/>
        </p:nvSpPr>
        <p:spPr bwMode="auto">
          <a:xfrm>
            <a:off x="809625" y="4427934"/>
            <a:ext cx="388143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</a:rPr>
              <a:t>Immediate Reward</a:t>
            </a:r>
            <a:endParaRPr/>
          </a:p>
        </p:txBody>
      </p:sp>
      <p:sp>
        <p:nvSpPr>
          <p:cNvPr id="503807307" name="Google Shape;205;p19"/>
          <p:cNvSpPr txBox="1"/>
          <p:nvPr/>
        </p:nvSpPr>
        <p:spPr bwMode="auto">
          <a:xfrm>
            <a:off x="809625" y="4666059"/>
            <a:ext cx="388143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R(s, a) gained instantly.</a:t>
            </a:r>
            <a:endParaRPr/>
          </a:p>
        </p:txBody>
      </p:sp>
      <p:sp>
        <p:nvSpPr>
          <p:cNvPr id="1310832368" name="Google Shape;206;p19"/>
          <p:cNvSpPr txBox="1"/>
          <p:nvPr/>
        </p:nvSpPr>
        <p:spPr bwMode="auto">
          <a:xfrm>
            <a:off x="4543425" y="4427934"/>
            <a:ext cx="3881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</a:rPr>
              <a:t>Discount Factor (</a:t>
            </a:r>
            <a:r>
              <a:rPr lang="en-US" sz="1350" b="1">
                <a:solidFill>
                  <a:srgbClr val="0284C7"/>
                </a:solidFill>
                <a:latin typeface="Inter"/>
                <a:ea typeface="Inter"/>
                <a:cs typeface="Inter"/>
              </a:rPr>
              <a:t>γ</a:t>
            </a:r>
            <a:r>
              <a:rPr lang="en-US" sz="135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</a:rPr>
              <a:t>)</a:t>
            </a:r>
            <a:endParaRPr/>
          </a:p>
        </p:txBody>
      </p:sp>
      <p:sp>
        <p:nvSpPr>
          <p:cNvPr id="1144610253" name="Google Shape;207;p19"/>
          <p:cNvSpPr txBox="1"/>
          <p:nvPr/>
        </p:nvSpPr>
        <p:spPr bwMode="auto">
          <a:xfrm>
            <a:off x="4543425" y="4666059"/>
            <a:ext cx="388143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Weights immediate vs future gains.</a:t>
            </a:r>
            <a:endParaRPr/>
          </a:p>
        </p:txBody>
      </p:sp>
      <p:sp>
        <p:nvSpPr>
          <p:cNvPr id="1561913164" name="Google Shape;208;p19"/>
          <p:cNvSpPr txBox="1"/>
          <p:nvPr/>
        </p:nvSpPr>
        <p:spPr bwMode="auto">
          <a:xfrm>
            <a:off x="8277225" y="4427934"/>
            <a:ext cx="388143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>
                <a:solidFill>
                  <a:srgbClr val="D97706"/>
                </a:solidFill>
                <a:latin typeface="Inter"/>
                <a:ea typeface="Inter"/>
                <a:cs typeface="Inter"/>
              </a:rPr>
              <a:t>Expected Future Value</a:t>
            </a:r>
            <a:endParaRPr/>
          </a:p>
        </p:txBody>
      </p:sp>
      <p:sp>
        <p:nvSpPr>
          <p:cNvPr id="1211834097" name="Google Shape;209;p19"/>
          <p:cNvSpPr txBox="1"/>
          <p:nvPr/>
        </p:nvSpPr>
        <p:spPr bwMode="auto">
          <a:xfrm>
            <a:off x="8277225" y="4666059"/>
            <a:ext cx="388143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Sum of next state optimal values.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804111" name="Google Shape;214;p20"/>
          <p:cNvSpPr/>
          <p:nvPr/>
        </p:nvSpPr>
        <p:spPr bwMode="auto">
          <a:xfrm>
            <a:off x="7574309" y="3126497"/>
            <a:ext cx="4008000" cy="1162200"/>
          </a:xfrm>
          <a:prstGeom prst="roundRect">
            <a:avLst>
              <a:gd name="adj" fmla="val 8196"/>
            </a:avLst>
          </a:prstGeom>
          <a:solidFill>
            <a:srgbClr val="F8FAFC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15418095" name="Google Shape;215;p20"/>
          <p:cNvSpPr/>
          <p:nvPr/>
        </p:nvSpPr>
        <p:spPr bwMode="auto">
          <a:xfrm>
            <a:off x="7574309" y="4479047"/>
            <a:ext cx="4008000" cy="1162200"/>
          </a:xfrm>
          <a:prstGeom prst="roundRect">
            <a:avLst>
              <a:gd name="adj" fmla="val 8196"/>
            </a:avLst>
          </a:prstGeom>
          <a:solidFill>
            <a:srgbClr val="F8FAFC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76803815" name="Google Shape;216;p20" descr="image.png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914400" y="3880990"/>
            <a:ext cx="6012209" cy="36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953004900" name="Google Shape;217;p20"/>
          <p:cNvSpPr txBox="1"/>
          <p:nvPr/>
        </p:nvSpPr>
        <p:spPr bwMode="auto"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</a:rPr>
              <a:t>MODEL-FREE CONTROL</a:t>
            </a:r>
            <a:endParaRPr/>
          </a:p>
        </p:txBody>
      </p:sp>
      <p:sp>
        <p:nvSpPr>
          <p:cNvPr id="513088254" name="Google Shape;218;p20"/>
          <p:cNvSpPr txBox="1"/>
          <p:nvPr/>
        </p:nvSpPr>
        <p:spPr bwMode="auto">
          <a:xfrm>
            <a:off x="609600" y="771525"/>
            <a:ext cx="11582400" cy="438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7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Q-Learning &amp; Temporal Difference</a:t>
            </a:r>
            <a:endParaRPr/>
          </a:p>
        </p:txBody>
      </p:sp>
      <p:sp>
        <p:nvSpPr>
          <p:cNvPr id="423467081" name="Google Shape;219;p20"/>
          <p:cNvSpPr txBox="1"/>
          <p:nvPr/>
        </p:nvSpPr>
        <p:spPr bwMode="auto">
          <a:xfrm>
            <a:off x="7812434" y="3364622"/>
            <a:ext cx="4379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</a:rPr>
              <a:t>Model-Free Learning</a:t>
            </a:r>
            <a:endParaRPr/>
          </a:p>
        </p:txBody>
      </p:sp>
      <p:sp>
        <p:nvSpPr>
          <p:cNvPr id="2038148495" name="Google Shape;220;p20"/>
          <p:cNvSpPr txBox="1"/>
          <p:nvPr/>
        </p:nvSpPr>
        <p:spPr bwMode="auto">
          <a:xfrm>
            <a:off x="7812434" y="3650372"/>
            <a:ext cx="3627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Learns optimal action values without knowing transition dynamics P(s'|s,a).</a:t>
            </a:r>
            <a:endParaRPr/>
          </a:p>
        </p:txBody>
      </p:sp>
      <p:sp>
        <p:nvSpPr>
          <p:cNvPr id="323648603" name="Google Shape;221;p20"/>
          <p:cNvSpPr txBox="1"/>
          <p:nvPr/>
        </p:nvSpPr>
        <p:spPr bwMode="auto">
          <a:xfrm>
            <a:off x="7812434" y="4717172"/>
            <a:ext cx="4379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D97706"/>
                </a:solidFill>
                <a:latin typeface="Inter"/>
                <a:ea typeface="Inter"/>
                <a:cs typeface="Inter"/>
              </a:rPr>
              <a:t>TD Error Signal</a:t>
            </a:r>
            <a:endParaRPr/>
          </a:p>
        </p:txBody>
      </p:sp>
      <p:sp>
        <p:nvSpPr>
          <p:cNvPr id="2012697355" name="Google Shape;222;p20"/>
          <p:cNvSpPr txBox="1"/>
          <p:nvPr/>
        </p:nvSpPr>
        <p:spPr bwMode="auto">
          <a:xfrm>
            <a:off x="7812434" y="5002922"/>
            <a:ext cx="3627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Updates estimates based on single-step experience observations.</a:t>
            </a:r>
            <a:endParaRPr/>
          </a:p>
        </p:txBody>
      </p:sp>
      <p:pic>
        <p:nvPicPr>
          <p:cNvPr id="474384958" name="Google Shape;223;p20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857155" y="1558500"/>
            <a:ext cx="862965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90D1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6347420" name="Google Shape;228;p21"/>
          <p:cNvSpPr/>
          <p:nvPr/>
        </p:nvSpPr>
        <p:spPr bwMode="auto">
          <a:xfrm>
            <a:off x="5200650" y="2011709"/>
            <a:ext cx="1790700" cy="28575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43104093" name="Google Shape;229;p21"/>
          <p:cNvSpPr txBox="1"/>
          <p:nvPr/>
        </p:nvSpPr>
        <p:spPr bwMode="auto">
          <a:xfrm>
            <a:off x="5110162" y="2068859"/>
            <a:ext cx="1971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1" i="0" u="none" strike="noStrike" cap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SUMMARY &amp; DISCUSSION</a:t>
            </a:r>
            <a:endParaRPr/>
          </a:p>
        </p:txBody>
      </p:sp>
      <p:sp>
        <p:nvSpPr>
          <p:cNvPr id="1106729685" name="Google Shape;230;p21"/>
          <p:cNvSpPr txBox="1"/>
          <p:nvPr/>
        </p:nvSpPr>
        <p:spPr bwMode="auto">
          <a:xfrm>
            <a:off x="1095375" y="2526059"/>
            <a:ext cx="100012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9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Optimization Under Uncertainty</a:t>
            </a:r>
            <a:endParaRPr/>
          </a:p>
        </p:txBody>
      </p:sp>
      <p:sp>
        <p:nvSpPr>
          <p:cNvPr id="1381627750" name="Google Shape;231;p21"/>
          <p:cNvSpPr txBox="1"/>
          <p:nvPr/>
        </p:nvSpPr>
        <p:spPr bwMode="auto">
          <a:xfrm>
            <a:off x="2047875" y="3345209"/>
            <a:ext cx="80962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Reinforcement Learning is dynamic programming extended to worlds with unknown transitions and reward functions.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ONLYOFFICE/9.0.4.50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</cp:coreProperties>
</file>